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75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766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931920" cy="5143500"/>
          </a:xfrm>
          <a:prstGeom prst="rect">
            <a:avLst/>
          </a:prstGeom>
          <a:solidFill>
            <a:srgbClr val="071221"/>
          </a:solidFill>
          <a:ln w="12700">
            <a:solidFill>
              <a:srgbClr val="071221"/>
            </a:solidFill>
            <a:prstDash val="solid"/>
          </a:ln>
        </p:spPr>
      </p:sp>
      <p:sp>
        <p:nvSpPr>
          <p:cNvPr id="3" name="Shape 1"/>
          <p:cNvSpPr/>
          <p:nvPr/>
        </p:nvSpPr>
        <p:spPr>
          <a:xfrm>
            <a:off x="3931920" y="0"/>
            <a:ext cx="54864" cy="5143500"/>
          </a:xfrm>
          <a:prstGeom prst="rect">
            <a:avLst/>
          </a:prstGeom>
          <a:solidFill>
            <a:srgbClr val="0D7C7C"/>
          </a:solidFill>
          <a:ln w="12700">
            <a:solidFill>
              <a:srgbClr val="0D7C7C"/>
            </a:solidFill>
            <a:prstDash val="solid"/>
          </a:ln>
        </p:spPr>
      </p:sp>
      <p:pic>
        <p:nvPicPr>
          <p:cNvPr id="4" name="Image 0" descr="preencoded.png"/>
          <p:cNvPicPr>
            <a:picLocks noChangeAspect="1"/>
          </p:cNvPicPr>
          <p:nvPr/>
        </p:nvPicPr>
        <p:blipFill>
          <a:blip r:embed="rId3"/>
          <a:stretch>
            <a:fillRect/>
          </a:stretch>
        </p:blipFill>
        <p:spPr>
          <a:xfrm>
            <a:off x="502920" y="658368"/>
            <a:ext cx="2834640" cy="2834640"/>
          </a:xfrm>
          <a:prstGeom prst="rect">
            <a:avLst/>
          </a:prstGeom>
        </p:spPr>
      </p:pic>
      <p:sp>
        <p:nvSpPr>
          <p:cNvPr id="5" name="Shape 2"/>
          <p:cNvSpPr/>
          <p:nvPr/>
        </p:nvSpPr>
        <p:spPr>
          <a:xfrm>
            <a:off x="365760" y="3639312"/>
            <a:ext cx="3200400" cy="347472"/>
          </a:xfrm>
          <a:prstGeom prst="rect">
            <a:avLst/>
          </a:prstGeom>
          <a:solidFill>
            <a:srgbClr val="0D7C7C"/>
          </a:solidFill>
          <a:ln w="12700">
            <a:solidFill>
              <a:srgbClr val="0D7C7C"/>
            </a:solidFill>
            <a:prstDash val="solid"/>
          </a:ln>
        </p:spPr>
      </p:sp>
      <p:sp>
        <p:nvSpPr>
          <p:cNvPr id="6" name="Text 3"/>
          <p:cNvSpPr/>
          <p:nvPr/>
        </p:nvSpPr>
        <p:spPr>
          <a:xfrm>
            <a:off x="365760" y="3639312"/>
            <a:ext cx="320040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Machine Learning Capstone Project</a:t>
            </a:r>
            <a:endParaRPr lang="en-US" sz="950" dirty="0"/>
          </a:p>
        </p:txBody>
      </p:sp>
      <p:sp>
        <p:nvSpPr>
          <p:cNvPr id="7" name="Text 4"/>
          <p:cNvSpPr/>
          <p:nvPr/>
        </p:nvSpPr>
        <p:spPr>
          <a:xfrm>
            <a:off x="365760" y="4078224"/>
            <a:ext cx="3200400" cy="256032"/>
          </a:xfrm>
          <a:prstGeom prst="rect">
            <a:avLst/>
          </a:prstGeom>
          <a:noFill/>
          <a:ln/>
        </p:spPr>
        <p:txBody>
          <a:bodyPr wrap="square" lIns="50800" tIns="50800" rIns="50800" bIns="50800" rtlCol="0" anchor="t"/>
          <a:lstStyle/>
          <a:p>
            <a:pPr marL="0" indent="0" algn="ctr">
              <a:buNone/>
            </a:pPr>
            <a:r>
              <a:rPr lang="en-US" sz="1100" dirty="0">
                <a:solidFill>
                  <a:srgbClr val="B8CCC0"/>
                </a:solidFill>
                <a:latin typeface="Calibri" pitchFamily="34" charset="0"/>
                <a:ea typeface="Calibri" pitchFamily="34" charset="-122"/>
                <a:cs typeface="Calibri" pitchFamily="34" charset="-120"/>
              </a:rPr>
              <a:t>Kenneth Paul Cortez</a:t>
            </a:r>
            <a:endParaRPr lang="en-US" sz="1100" dirty="0"/>
          </a:p>
        </p:txBody>
      </p:sp>
      <p:sp>
        <p:nvSpPr>
          <p:cNvPr id="8" name="Text 5"/>
          <p:cNvSpPr/>
          <p:nvPr/>
        </p:nvSpPr>
        <p:spPr>
          <a:xfrm>
            <a:off x="365760" y="4352544"/>
            <a:ext cx="3200400" cy="237744"/>
          </a:xfrm>
          <a:prstGeom prst="rect">
            <a:avLst/>
          </a:prstGeom>
          <a:noFill/>
          <a:ln/>
        </p:spPr>
        <p:txBody>
          <a:bodyPr wrap="square" lIns="50800" tIns="50800" rIns="50800" bIns="50800" rtlCol="0" anchor="t"/>
          <a:lstStyle/>
          <a:p>
            <a:pPr marL="0" indent="0" algn="ctr">
              <a:buNone/>
            </a:pPr>
            <a:r>
              <a:rPr lang="en-US" sz="1000" i="1" dirty="0">
                <a:solidFill>
                  <a:srgbClr val="7FA8C0"/>
                </a:solidFill>
                <a:latin typeface="Calibri" pitchFamily="34" charset="0"/>
                <a:ea typeface="Calibri" pitchFamily="34" charset="-122"/>
                <a:cs typeface="Calibri" pitchFamily="34" charset="-120"/>
              </a:rPr>
              <a:t>04 March 2026</a:t>
            </a:r>
            <a:endParaRPr lang="en-US" sz="1000" dirty="0"/>
          </a:p>
        </p:txBody>
      </p:sp>
      <p:sp>
        <p:nvSpPr>
          <p:cNvPr id="9" name="Text 6"/>
          <p:cNvSpPr/>
          <p:nvPr/>
        </p:nvSpPr>
        <p:spPr>
          <a:xfrm>
            <a:off x="4160520" y="777240"/>
            <a:ext cx="4663440" cy="749808"/>
          </a:xfrm>
          <a:prstGeom prst="rect">
            <a:avLst/>
          </a:prstGeom>
          <a:noFill/>
          <a:ln/>
        </p:spPr>
        <p:txBody>
          <a:bodyPr wrap="square" lIns="50800" tIns="50800" rIns="50800" bIns="5080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Student Dropout</a:t>
            </a:r>
            <a:endParaRPr lang="en-US" sz="3600" dirty="0"/>
          </a:p>
        </p:txBody>
      </p:sp>
      <p:sp>
        <p:nvSpPr>
          <p:cNvPr id="10" name="Text 7"/>
          <p:cNvSpPr/>
          <p:nvPr/>
        </p:nvSpPr>
        <p:spPr>
          <a:xfrm>
            <a:off x="4160520" y="1499616"/>
            <a:ext cx="4663440" cy="749808"/>
          </a:xfrm>
          <a:prstGeom prst="rect">
            <a:avLst/>
          </a:prstGeom>
          <a:noFill/>
          <a:ln/>
        </p:spPr>
        <p:txBody>
          <a:bodyPr wrap="square" lIns="50800" tIns="50800" rIns="50800" bIns="50800" rtlCol="0" anchor="ctr"/>
          <a:lstStyle/>
          <a:p>
            <a:pPr marL="0" indent="0" algn="l">
              <a:buNone/>
            </a:pPr>
            <a:r>
              <a:rPr lang="en-US" sz="3600" b="1" dirty="0">
                <a:solidFill>
                  <a:srgbClr val="1DE9B6"/>
                </a:solidFill>
                <a:latin typeface="Calibri" pitchFamily="34" charset="0"/>
                <a:ea typeface="Calibri" pitchFamily="34" charset="-122"/>
                <a:cs typeface="Calibri" pitchFamily="34" charset="-120"/>
              </a:rPr>
              <a:t>Risk Prediction</a:t>
            </a:r>
            <a:endParaRPr lang="en-US" sz="3600" dirty="0"/>
          </a:p>
        </p:txBody>
      </p:sp>
      <p:sp>
        <p:nvSpPr>
          <p:cNvPr id="11" name="Text 8"/>
          <p:cNvSpPr/>
          <p:nvPr/>
        </p:nvSpPr>
        <p:spPr>
          <a:xfrm>
            <a:off x="4160520" y="2240280"/>
            <a:ext cx="4663440" cy="475488"/>
          </a:xfrm>
          <a:prstGeom prst="rect">
            <a:avLst/>
          </a:prstGeom>
          <a:noFill/>
          <a:ln/>
        </p:spPr>
        <p:txBody>
          <a:bodyPr wrap="square" lIns="50800" tIns="50800" rIns="50800" bIns="50800" rtlCol="0" anchor="ctr"/>
          <a:lstStyle/>
          <a:p>
            <a:pPr marL="0" indent="0" algn="l">
              <a:buNone/>
            </a:pPr>
            <a:r>
              <a:rPr lang="en-US" sz="1800" dirty="0">
                <a:solidFill>
                  <a:srgbClr val="D6EAF8"/>
                </a:solidFill>
                <a:latin typeface="Calibri" pitchFamily="34" charset="0"/>
                <a:ea typeface="Calibri" pitchFamily="34" charset="-122"/>
                <a:cs typeface="Calibri" pitchFamily="34" charset="-120"/>
              </a:rPr>
              <a:t>Using Machine Learning</a:t>
            </a:r>
            <a:endParaRPr lang="en-US" sz="1800" dirty="0"/>
          </a:p>
        </p:txBody>
      </p:sp>
      <p:sp>
        <p:nvSpPr>
          <p:cNvPr id="12" name="Shape 9"/>
          <p:cNvSpPr/>
          <p:nvPr/>
        </p:nvSpPr>
        <p:spPr>
          <a:xfrm>
            <a:off x="4160520" y="2944368"/>
            <a:ext cx="1417320" cy="96012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3" name="Text 10"/>
          <p:cNvSpPr/>
          <p:nvPr/>
        </p:nvSpPr>
        <p:spPr>
          <a:xfrm>
            <a:off x="4160520" y="2962656"/>
            <a:ext cx="1417320" cy="548640"/>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4,424</a:t>
            </a:r>
            <a:endParaRPr lang="en-US" sz="2600" dirty="0"/>
          </a:p>
        </p:txBody>
      </p:sp>
      <p:sp>
        <p:nvSpPr>
          <p:cNvPr id="14" name="Text 11"/>
          <p:cNvSpPr/>
          <p:nvPr/>
        </p:nvSpPr>
        <p:spPr>
          <a:xfrm>
            <a:off x="4160520" y="3493008"/>
            <a:ext cx="1417320" cy="274320"/>
          </a:xfrm>
          <a:prstGeom prst="rect">
            <a:avLst/>
          </a:prstGeom>
          <a:noFill/>
          <a:ln/>
        </p:spPr>
        <p:txBody>
          <a:bodyPr wrap="square" lIns="50800" tIns="50800" rIns="50800" bIns="50800" rtlCol="0" anchor="t"/>
          <a:lstStyle/>
          <a:p>
            <a:pPr marL="0" indent="0" algn="ctr">
              <a:buNone/>
            </a:pPr>
            <a:r>
              <a:rPr lang="en-US" sz="900" dirty="0">
                <a:solidFill>
                  <a:srgbClr val="7FA8C0"/>
                </a:solidFill>
                <a:latin typeface="Calibri" pitchFamily="34" charset="0"/>
                <a:ea typeface="Calibri" pitchFamily="34" charset="-122"/>
                <a:cs typeface="Calibri" pitchFamily="34" charset="-120"/>
              </a:rPr>
              <a:t>Records</a:t>
            </a:r>
            <a:endParaRPr lang="en-US" sz="900" dirty="0"/>
          </a:p>
        </p:txBody>
      </p:sp>
      <p:sp>
        <p:nvSpPr>
          <p:cNvPr id="15" name="Shape 12"/>
          <p:cNvSpPr/>
          <p:nvPr/>
        </p:nvSpPr>
        <p:spPr>
          <a:xfrm>
            <a:off x="5733288" y="2944368"/>
            <a:ext cx="1417320" cy="96012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6" name="Text 13"/>
          <p:cNvSpPr/>
          <p:nvPr/>
        </p:nvSpPr>
        <p:spPr>
          <a:xfrm>
            <a:off x="5733288" y="2962656"/>
            <a:ext cx="1417320" cy="548640"/>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37</a:t>
            </a:r>
            <a:endParaRPr lang="en-US" sz="2600" dirty="0"/>
          </a:p>
        </p:txBody>
      </p:sp>
      <p:sp>
        <p:nvSpPr>
          <p:cNvPr id="17" name="Text 14"/>
          <p:cNvSpPr/>
          <p:nvPr/>
        </p:nvSpPr>
        <p:spPr>
          <a:xfrm>
            <a:off x="5733288" y="3493008"/>
            <a:ext cx="1417320" cy="274320"/>
          </a:xfrm>
          <a:prstGeom prst="rect">
            <a:avLst/>
          </a:prstGeom>
          <a:noFill/>
          <a:ln/>
        </p:spPr>
        <p:txBody>
          <a:bodyPr wrap="square" lIns="50800" tIns="50800" rIns="50800" bIns="50800" rtlCol="0" anchor="t"/>
          <a:lstStyle/>
          <a:p>
            <a:pPr marL="0" indent="0" algn="ctr">
              <a:buNone/>
            </a:pPr>
            <a:r>
              <a:rPr lang="en-US" sz="900" dirty="0">
                <a:solidFill>
                  <a:srgbClr val="7FA8C0"/>
                </a:solidFill>
                <a:latin typeface="Calibri" pitchFamily="34" charset="0"/>
                <a:ea typeface="Calibri" pitchFamily="34" charset="-122"/>
                <a:cs typeface="Calibri" pitchFamily="34" charset="-120"/>
              </a:rPr>
              <a:t>Features</a:t>
            </a:r>
            <a:endParaRPr lang="en-US" sz="900" dirty="0"/>
          </a:p>
        </p:txBody>
      </p:sp>
      <p:sp>
        <p:nvSpPr>
          <p:cNvPr id="18" name="Shape 15"/>
          <p:cNvSpPr/>
          <p:nvPr/>
        </p:nvSpPr>
        <p:spPr>
          <a:xfrm>
            <a:off x="7306056" y="2944368"/>
            <a:ext cx="1417320" cy="96012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9" name="Text 16"/>
          <p:cNvSpPr/>
          <p:nvPr/>
        </p:nvSpPr>
        <p:spPr>
          <a:xfrm>
            <a:off x="7306056" y="2962656"/>
            <a:ext cx="1417320" cy="548640"/>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5</a:t>
            </a:r>
            <a:endParaRPr lang="en-US" sz="2600" dirty="0"/>
          </a:p>
        </p:txBody>
      </p:sp>
      <p:sp>
        <p:nvSpPr>
          <p:cNvPr id="20" name="Text 17"/>
          <p:cNvSpPr/>
          <p:nvPr/>
        </p:nvSpPr>
        <p:spPr>
          <a:xfrm>
            <a:off x="7306056" y="3493008"/>
            <a:ext cx="1417320" cy="274320"/>
          </a:xfrm>
          <a:prstGeom prst="rect">
            <a:avLst/>
          </a:prstGeom>
          <a:noFill/>
          <a:ln/>
        </p:spPr>
        <p:txBody>
          <a:bodyPr wrap="square" lIns="50800" tIns="50800" rIns="50800" bIns="50800" rtlCol="0" anchor="t"/>
          <a:lstStyle/>
          <a:p>
            <a:pPr marL="0" indent="0" algn="ctr">
              <a:buNone/>
            </a:pPr>
            <a:r>
              <a:rPr lang="en-US" sz="900" dirty="0">
                <a:solidFill>
                  <a:srgbClr val="7FA8C0"/>
                </a:solidFill>
                <a:latin typeface="Calibri" pitchFamily="34" charset="0"/>
                <a:ea typeface="Calibri" pitchFamily="34" charset="-122"/>
                <a:cs typeface="Calibri" pitchFamily="34" charset="-120"/>
              </a:rPr>
              <a:t>Models</a:t>
            </a:r>
            <a:endParaRPr lang="en-US" sz="900" dirty="0"/>
          </a:p>
        </p:txBody>
      </p:sp>
      <p:sp>
        <p:nvSpPr>
          <p:cNvPr id="21" name="Shape 18"/>
          <p:cNvSpPr/>
          <p:nvPr/>
        </p:nvSpPr>
        <p:spPr>
          <a:xfrm>
            <a:off x="4160520" y="4114800"/>
            <a:ext cx="4709160" cy="292608"/>
          </a:xfrm>
          <a:prstGeom prst="rect">
            <a:avLst/>
          </a:prstGeom>
          <a:solidFill>
            <a:srgbClr val="112233"/>
          </a:solidFill>
          <a:ln w="6350">
            <a:solidFill>
              <a:srgbClr val="0D7C7C"/>
            </a:solidFill>
            <a:prstDash val="solid"/>
          </a:ln>
        </p:spPr>
      </p:sp>
      <p:sp>
        <p:nvSpPr>
          <p:cNvPr id="22" name="Text 19"/>
          <p:cNvSpPr/>
          <p:nvPr/>
        </p:nvSpPr>
        <p:spPr>
          <a:xfrm>
            <a:off x="4224528" y="4133088"/>
            <a:ext cx="4572000" cy="256032"/>
          </a:xfrm>
          <a:prstGeom prst="rect">
            <a:avLst/>
          </a:prstGeom>
          <a:noFill/>
          <a:ln/>
        </p:spPr>
        <p:txBody>
          <a:bodyPr wrap="square" lIns="50800" tIns="50800" rIns="50800" bIns="50800" rtlCol="0" anchor="t"/>
          <a:lstStyle/>
          <a:p>
            <a:pPr marL="0" indent="0" algn="l">
              <a:buNone/>
            </a:pPr>
            <a:r>
              <a:rPr lang="en-US" sz="900" i="1" dirty="0">
                <a:solidFill>
                  <a:srgbClr val="7FA8C0"/>
                </a:solidFill>
                <a:latin typeface="Calibri" pitchFamily="34" charset="0"/>
                <a:ea typeface="Calibri" pitchFamily="34" charset="-122"/>
                <a:cs typeface="Calibri" pitchFamily="34" charset="-120"/>
              </a:rPr>
              <a:t>Dataset: UCI ML Repository Realinho et al. (2022)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Problem Overview</a:t>
            </a:r>
            <a:endParaRPr lang="en-US" sz="1600" dirty="0"/>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indent="0">
              <a:buNone/>
            </a:pPr>
            <a:r>
              <a:rPr lang="en-US" sz="900" i="1" dirty="0">
                <a:solidFill>
                  <a:srgbClr val="1DE9B6"/>
                </a:solidFill>
                <a:latin typeface="Calibri" pitchFamily="34" charset="0"/>
                <a:ea typeface="Calibri" pitchFamily="34" charset="-122"/>
                <a:cs typeface="Calibri" pitchFamily="34" charset="-120"/>
              </a:rPr>
              <a:t>Why predicting student dropout matters for higher education institutions</a:t>
            </a:r>
            <a:endParaRPr lang="en-US" sz="900" dirty="0"/>
          </a:p>
        </p:txBody>
      </p:sp>
      <p:sp>
        <p:nvSpPr>
          <p:cNvPr id="5" name="Shape 3"/>
          <p:cNvSpPr/>
          <p:nvPr/>
        </p:nvSpPr>
        <p:spPr>
          <a:xfrm>
            <a:off x="274320" y="777240"/>
            <a:ext cx="4160520" cy="12344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Shape 4"/>
          <p:cNvSpPr/>
          <p:nvPr/>
        </p:nvSpPr>
        <p:spPr>
          <a:xfrm>
            <a:off x="274320" y="777240"/>
            <a:ext cx="64008" cy="1234440"/>
          </a:xfrm>
          <a:prstGeom prst="rect">
            <a:avLst/>
          </a:prstGeom>
          <a:solidFill>
            <a:srgbClr val="0D7C7C"/>
          </a:solidFill>
          <a:ln w="12700">
            <a:solidFill>
              <a:srgbClr val="0D7C7C"/>
            </a:solidFill>
            <a:prstDash val="solid"/>
          </a:ln>
        </p:spPr>
      </p:sp>
      <p:sp>
        <p:nvSpPr>
          <p:cNvPr id="7" name="Text 5"/>
          <p:cNvSpPr/>
          <p:nvPr/>
        </p:nvSpPr>
        <p:spPr>
          <a:xfrm>
            <a:off x="475488" y="868680"/>
            <a:ext cx="3749040" cy="292608"/>
          </a:xfrm>
          <a:prstGeom prst="rect">
            <a:avLst/>
          </a:prstGeom>
          <a:noFill/>
          <a:ln/>
        </p:spPr>
        <p:txBody>
          <a:bodyPr wrap="square" lIns="50800" tIns="50800" rIns="50800" bIns="50800" rtlCol="0" anchor="t"/>
          <a:lstStyle/>
          <a:p>
            <a:pPr marL="0" indent="0" algn="l">
              <a:buNone/>
            </a:pPr>
            <a:r>
              <a:rPr lang="en-US" sz="1200" b="1" dirty="0">
                <a:solidFill>
                  <a:srgbClr val="0D7C7C"/>
                </a:solidFill>
                <a:latin typeface="Calibri" pitchFamily="34" charset="0"/>
                <a:ea typeface="Calibri" pitchFamily="34" charset="-122"/>
                <a:cs typeface="Calibri" pitchFamily="34" charset="-120"/>
              </a:rPr>
              <a:t>Silent Accumulation</a:t>
            </a:r>
            <a:endParaRPr lang="en-US" sz="1200" dirty="0"/>
          </a:p>
        </p:txBody>
      </p:sp>
      <p:sp>
        <p:nvSpPr>
          <p:cNvPr id="8" name="Text 6"/>
          <p:cNvSpPr/>
          <p:nvPr/>
        </p:nvSpPr>
        <p:spPr>
          <a:xfrm>
            <a:off x="475488" y="1179576"/>
            <a:ext cx="3749040" cy="749808"/>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Dropout rarely happens overnight. Declining grades, unpaid tuition, and disengagement compound quietly — the institution detects the pattern only after the student has already mentally checked out.</a:t>
            </a:r>
            <a:endParaRPr lang="en-US" sz="1000" dirty="0"/>
          </a:p>
        </p:txBody>
      </p:sp>
      <p:sp>
        <p:nvSpPr>
          <p:cNvPr id="9" name="Shape 7"/>
          <p:cNvSpPr/>
          <p:nvPr/>
        </p:nvSpPr>
        <p:spPr>
          <a:xfrm>
            <a:off x="274320" y="2148840"/>
            <a:ext cx="4160520" cy="12344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0" name="Shape 8"/>
          <p:cNvSpPr/>
          <p:nvPr/>
        </p:nvSpPr>
        <p:spPr>
          <a:xfrm>
            <a:off x="274320" y="2148840"/>
            <a:ext cx="64008" cy="1234440"/>
          </a:xfrm>
          <a:prstGeom prst="rect">
            <a:avLst/>
          </a:prstGeom>
          <a:solidFill>
            <a:srgbClr val="F4A535"/>
          </a:solidFill>
          <a:ln w="12700">
            <a:solidFill>
              <a:srgbClr val="F4A535"/>
            </a:solidFill>
            <a:prstDash val="solid"/>
          </a:ln>
        </p:spPr>
      </p:sp>
      <p:sp>
        <p:nvSpPr>
          <p:cNvPr id="11" name="Text 9"/>
          <p:cNvSpPr/>
          <p:nvPr/>
        </p:nvSpPr>
        <p:spPr>
          <a:xfrm>
            <a:off x="475488" y="2240280"/>
            <a:ext cx="3749040" cy="292608"/>
          </a:xfrm>
          <a:prstGeom prst="rect">
            <a:avLst/>
          </a:prstGeom>
          <a:noFill/>
          <a:ln/>
        </p:spPr>
        <p:txBody>
          <a:bodyPr wrap="square" lIns="50800" tIns="50800" rIns="50800" bIns="50800" rtlCol="0" anchor="t"/>
          <a:lstStyle/>
          <a:p>
            <a:pPr marL="0" indent="0" algn="l">
              <a:buNone/>
            </a:pPr>
            <a:r>
              <a:rPr lang="en-US" sz="1200" b="1" dirty="0">
                <a:solidFill>
                  <a:srgbClr val="F4A535"/>
                </a:solidFill>
                <a:latin typeface="Calibri" pitchFamily="34" charset="0"/>
                <a:ea typeface="Calibri" pitchFamily="34" charset="-122"/>
                <a:cs typeface="Calibri" pitchFamily="34" charset="-120"/>
              </a:rPr>
              <a:t>Institutional Cost</a:t>
            </a:r>
            <a:endParaRPr lang="en-US" sz="1200" dirty="0"/>
          </a:p>
        </p:txBody>
      </p:sp>
      <p:sp>
        <p:nvSpPr>
          <p:cNvPr id="12" name="Text 10"/>
          <p:cNvSpPr/>
          <p:nvPr/>
        </p:nvSpPr>
        <p:spPr>
          <a:xfrm>
            <a:off x="475488" y="2551176"/>
            <a:ext cx="3749040" cy="749808"/>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High attrition erodes tuition revenue, weakens ranking metrics, and signals gaps in student support infrastructure. In Portugal, dropout rates in higher education have drawn sustained policy attention.</a:t>
            </a:r>
            <a:endParaRPr lang="en-US" sz="1000" dirty="0"/>
          </a:p>
        </p:txBody>
      </p:sp>
      <p:sp>
        <p:nvSpPr>
          <p:cNvPr id="13" name="Shape 11"/>
          <p:cNvSpPr/>
          <p:nvPr/>
        </p:nvSpPr>
        <p:spPr>
          <a:xfrm>
            <a:off x="274320" y="3520440"/>
            <a:ext cx="4160520" cy="12344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4" name="Shape 12"/>
          <p:cNvSpPr/>
          <p:nvPr/>
        </p:nvSpPr>
        <p:spPr>
          <a:xfrm>
            <a:off x="274320" y="3520440"/>
            <a:ext cx="64008" cy="1234440"/>
          </a:xfrm>
          <a:prstGeom prst="rect">
            <a:avLst/>
          </a:prstGeom>
          <a:solidFill>
            <a:srgbClr val="1DE9B6"/>
          </a:solidFill>
          <a:ln w="12700">
            <a:solidFill>
              <a:srgbClr val="1DE9B6"/>
            </a:solidFill>
            <a:prstDash val="solid"/>
          </a:ln>
        </p:spPr>
      </p:sp>
      <p:sp>
        <p:nvSpPr>
          <p:cNvPr id="15" name="Text 13"/>
          <p:cNvSpPr/>
          <p:nvPr/>
        </p:nvSpPr>
        <p:spPr>
          <a:xfrm>
            <a:off x="475488" y="3611880"/>
            <a:ext cx="3749040" cy="292608"/>
          </a:xfrm>
          <a:prstGeom prst="rect">
            <a:avLst/>
          </a:prstGeom>
          <a:noFill/>
          <a:ln/>
        </p:spPr>
        <p:txBody>
          <a:bodyPr wrap="square" lIns="50800" tIns="50800" rIns="50800" bIns="50800" rtlCol="0" anchor="t"/>
          <a:lstStyle/>
          <a:p>
            <a:pPr marL="0" indent="0" algn="l">
              <a:buNone/>
            </a:pPr>
            <a:r>
              <a:rPr lang="en-US" sz="1200" b="1" dirty="0">
                <a:solidFill>
                  <a:srgbClr val="1DE9B6"/>
                </a:solidFill>
                <a:latin typeface="Calibri" pitchFamily="34" charset="0"/>
                <a:ea typeface="Calibri" pitchFamily="34" charset="-122"/>
                <a:cs typeface="Calibri" pitchFamily="34" charset="-120"/>
              </a:rPr>
              <a:t>The ML Opportunity</a:t>
            </a:r>
            <a:endParaRPr lang="en-US" sz="1200" dirty="0"/>
          </a:p>
        </p:txBody>
      </p:sp>
      <p:sp>
        <p:nvSpPr>
          <p:cNvPr id="16" name="Text 14"/>
          <p:cNvSpPr/>
          <p:nvPr/>
        </p:nvSpPr>
        <p:spPr>
          <a:xfrm>
            <a:off x="475488" y="3922776"/>
            <a:ext cx="3749040" cy="749808"/>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A predictive model trained on prior cohort data can surface at-risk students weeks before a critical outcome, giving advisors a concrete, prioritised list for outreach.</a:t>
            </a:r>
            <a:endParaRPr lang="en-US" sz="1000" dirty="0"/>
          </a:p>
        </p:txBody>
      </p:sp>
      <p:sp>
        <p:nvSpPr>
          <p:cNvPr id="17" name="Shape 15"/>
          <p:cNvSpPr/>
          <p:nvPr/>
        </p:nvSpPr>
        <p:spPr>
          <a:xfrm>
            <a:off x="4663440" y="777240"/>
            <a:ext cx="4206240" cy="685800"/>
          </a:xfrm>
          <a:prstGeom prst="rect">
            <a:avLst/>
          </a:prstGeom>
          <a:solidFill>
            <a:srgbClr val="162840"/>
          </a:solidFill>
          <a:ln w="8890">
            <a:solidFill>
              <a:srgbClr val="0D7C7C"/>
            </a:solidFill>
            <a:prstDash val="solid"/>
          </a:ln>
          <a:effectLst>
            <a:outerShdw blurRad="101600" dist="38100" dir="8100000" algn="bl" rotWithShape="0">
              <a:srgbClr val="000000">
                <a:alpha val="28000"/>
              </a:srgbClr>
            </a:outerShdw>
          </a:effectLst>
        </p:spPr>
      </p:sp>
      <p:sp>
        <p:nvSpPr>
          <p:cNvPr id="18" name="Shape 16"/>
          <p:cNvSpPr/>
          <p:nvPr/>
        </p:nvSpPr>
        <p:spPr>
          <a:xfrm>
            <a:off x="4663440" y="777240"/>
            <a:ext cx="64008" cy="685800"/>
          </a:xfrm>
          <a:prstGeom prst="rect">
            <a:avLst/>
          </a:prstGeom>
          <a:solidFill>
            <a:srgbClr val="13A89E"/>
          </a:solidFill>
          <a:ln w="12700">
            <a:solidFill>
              <a:srgbClr val="13A89E"/>
            </a:solidFill>
            <a:prstDash val="solid"/>
          </a:ln>
        </p:spPr>
      </p:sp>
      <p:sp>
        <p:nvSpPr>
          <p:cNvPr id="19" name="Text 17"/>
          <p:cNvSpPr/>
          <p:nvPr/>
        </p:nvSpPr>
        <p:spPr>
          <a:xfrm>
            <a:off x="4846320" y="813816"/>
            <a:ext cx="1371600" cy="566928"/>
          </a:xfrm>
          <a:prstGeom prst="rect">
            <a:avLst/>
          </a:prstGeom>
          <a:noFill/>
          <a:ln/>
        </p:spPr>
        <p:txBody>
          <a:bodyPr wrap="square" lIns="50800" tIns="50800" rIns="50800" bIns="50800" rtlCol="0" anchor="t"/>
          <a:lstStyle/>
          <a:p>
            <a:pPr marL="0" indent="0" algn="l">
              <a:buNone/>
            </a:pPr>
            <a:r>
              <a:rPr lang="en-US" sz="2800" b="1" dirty="0">
                <a:solidFill>
                  <a:srgbClr val="1DE9B6"/>
                </a:solidFill>
                <a:latin typeface="Calibri" pitchFamily="34" charset="0"/>
                <a:ea typeface="Calibri" pitchFamily="34" charset="-122"/>
                <a:cs typeface="Calibri" pitchFamily="34" charset="-120"/>
              </a:rPr>
              <a:t>32%</a:t>
            </a:r>
            <a:endParaRPr lang="en-US" sz="2800" dirty="0"/>
          </a:p>
        </p:txBody>
      </p:sp>
      <p:sp>
        <p:nvSpPr>
          <p:cNvPr id="20" name="Text 18"/>
          <p:cNvSpPr/>
          <p:nvPr/>
        </p:nvSpPr>
        <p:spPr>
          <a:xfrm>
            <a:off x="6309360" y="978408"/>
            <a:ext cx="2423160" cy="320040"/>
          </a:xfrm>
          <a:prstGeom prst="rect">
            <a:avLst/>
          </a:prstGeom>
          <a:noFill/>
          <a:ln/>
        </p:spPr>
        <p:txBody>
          <a:bodyPr wrap="square" lIns="50800" tIns="50800" rIns="50800" bIns="50800" rtlCol="0" anchor="t"/>
          <a:lstStyle/>
          <a:p>
            <a:pPr marL="0" indent="0" algn="l">
              <a:buNone/>
            </a:pPr>
            <a:r>
              <a:rPr lang="en-US" sz="1000" dirty="0">
                <a:solidFill>
                  <a:srgbClr val="7FA8C0"/>
                </a:solidFill>
                <a:latin typeface="Calibri" pitchFamily="34" charset="0"/>
                <a:ea typeface="Calibri" pitchFamily="34" charset="-122"/>
                <a:cs typeface="Calibri" pitchFamily="34" charset="-120"/>
              </a:rPr>
              <a:t>Dropout rate in dataset</a:t>
            </a:r>
            <a:endParaRPr lang="en-US" sz="1000" dirty="0"/>
          </a:p>
        </p:txBody>
      </p:sp>
      <p:sp>
        <p:nvSpPr>
          <p:cNvPr id="21" name="Shape 19"/>
          <p:cNvSpPr/>
          <p:nvPr/>
        </p:nvSpPr>
        <p:spPr>
          <a:xfrm>
            <a:off x="4663440" y="1581912"/>
            <a:ext cx="4206240" cy="685800"/>
          </a:xfrm>
          <a:prstGeom prst="rect">
            <a:avLst/>
          </a:prstGeom>
          <a:solidFill>
            <a:srgbClr val="162840"/>
          </a:solidFill>
          <a:ln w="8890">
            <a:solidFill>
              <a:srgbClr val="0D7C7C"/>
            </a:solidFill>
            <a:prstDash val="solid"/>
          </a:ln>
          <a:effectLst>
            <a:outerShdw blurRad="101600" dist="38100" dir="8100000" algn="bl" rotWithShape="0">
              <a:srgbClr val="000000">
                <a:alpha val="28000"/>
              </a:srgbClr>
            </a:outerShdw>
          </a:effectLst>
        </p:spPr>
      </p:sp>
      <p:sp>
        <p:nvSpPr>
          <p:cNvPr id="22" name="Shape 20"/>
          <p:cNvSpPr/>
          <p:nvPr/>
        </p:nvSpPr>
        <p:spPr>
          <a:xfrm>
            <a:off x="4663440" y="1581912"/>
            <a:ext cx="64008" cy="685800"/>
          </a:xfrm>
          <a:prstGeom prst="rect">
            <a:avLst/>
          </a:prstGeom>
          <a:solidFill>
            <a:srgbClr val="13A89E"/>
          </a:solidFill>
          <a:ln w="12700">
            <a:solidFill>
              <a:srgbClr val="13A89E"/>
            </a:solidFill>
            <a:prstDash val="solid"/>
          </a:ln>
        </p:spPr>
      </p:sp>
      <p:sp>
        <p:nvSpPr>
          <p:cNvPr id="23" name="Text 21"/>
          <p:cNvSpPr/>
          <p:nvPr/>
        </p:nvSpPr>
        <p:spPr>
          <a:xfrm>
            <a:off x="4846320" y="1618488"/>
            <a:ext cx="1371600" cy="566928"/>
          </a:xfrm>
          <a:prstGeom prst="rect">
            <a:avLst/>
          </a:prstGeom>
          <a:noFill/>
          <a:ln/>
        </p:spPr>
        <p:txBody>
          <a:bodyPr wrap="square" lIns="50800" tIns="50800" rIns="50800" bIns="50800" rtlCol="0" anchor="t"/>
          <a:lstStyle/>
          <a:p>
            <a:pPr marL="0" indent="0" algn="l">
              <a:buNone/>
            </a:pPr>
            <a:r>
              <a:rPr lang="en-US" sz="2800" b="1" dirty="0">
                <a:solidFill>
                  <a:srgbClr val="1DE9B6"/>
                </a:solidFill>
                <a:latin typeface="Calibri" pitchFamily="34" charset="0"/>
                <a:ea typeface="Calibri" pitchFamily="34" charset="-122"/>
                <a:cs typeface="Calibri" pitchFamily="34" charset="-120"/>
              </a:rPr>
              <a:t>1,421</a:t>
            </a:r>
            <a:endParaRPr lang="en-US" sz="2800" dirty="0"/>
          </a:p>
        </p:txBody>
      </p:sp>
      <p:sp>
        <p:nvSpPr>
          <p:cNvPr id="24" name="Text 22"/>
          <p:cNvSpPr/>
          <p:nvPr/>
        </p:nvSpPr>
        <p:spPr>
          <a:xfrm>
            <a:off x="6309360" y="1783080"/>
            <a:ext cx="2423160" cy="320040"/>
          </a:xfrm>
          <a:prstGeom prst="rect">
            <a:avLst/>
          </a:prstGeom>
          <a:noFill/>
          <a:ln/>
        </p:spPr>
        <p:txBody>
          <a:bodyPr wrap="square" lIns="50800" tIns="50800" rIns="50800" bIns="50800" rtlCol="0" anchor="t"/>
          <a:lstStyle/>
          <a:p>
            <a:pPr marL="0" indent="0" algn="l">
              <a:buNone/>
            </a:pPr>
            <a:r>
              <a:rPr lang="en-US" sz="1000" dirty="0">
                <a:solidFill>
                  <a:srgbClr val="7FA8C0"/>
                </a:solidFill>
                <a:latin typeface="Calibri" pitchFamily="34" charset="0"/>
                <a:ea typeface="Calibri" pitchFamily="34" charset="-122"/>
                <a:cs typeface="Calibri" pitchFamily="34" charset="-120"/>
              </a:rPr>
              <a:t>Dropout cases (class 1)</a:t>
            </a:r>
            <a:endParaRPr lang="en-US" sz="1000" dirty="0"/>
          </a:p>
        </p:txBody>
      </p:sp>
      <p:sp>
        <p:nvSpPr>
          <p:cNvPr id="25" name="Shape 23"/>
          <p:cNvSpPr/>
          <p:nvPr/>
        </p:nvSpPr>
        <p:spPr>
          <a:xfrm>
            <a:off x="4663440" y="2386584"/>
            <a:ext cx="4206240" cy="685800"/>
          </a:xfrm>
          <a:prstGeom prst="rect">
            <a:avLst/>
          </a:prstGeom>
          <a:solidFill>
            <a:srgbClr val="162840"/>
          </a:solidFill>
          <a:ln w="8890">
            <a:solidFill>
              <a:srgbClr val="0D7C7C"/>
            </a:solidFill>
            <a:prstDash val="solid"/>
          </a:ln>
          <a:effectLst>
            <a:outerShdw blurRad="101600" dist="38100" dir="8100000" algn="bl" rotWithShape="0">
              <a:srgbClr val="000000">
                <a:alpha val="28000"/>
              </a:srgbClr>
            </a:outerShdw>
          </a:effectLst>
        </p:spPr>
      </p:sp>
      <p:sp>
        <p:nvSpPr>
          <p:cNvPr id="26" name="Shape 24"/>
          <p:cNvSpPr/>
          <p:nvPr/>
        </p:nvSpPr>
        <p:spPr>
          <a:xfrm>
            <a:off x="4663440" y="2386584"/>
            <a:ext cx="64008" cy="685800"/>
          </a:xfrm>
          <a:prstGeom prst="rect">
            <a:avLst/>
          </a:prstGeom>
          <a:solidFill>
            <a:srgbClr val="13A89E"/>
          </a:solidFill>
          <a:ln w="12700">
            <a:solidFill>
              <a:srgbClr val="13A89E"/>
            </a:solidFill>
            <a:prstDash val="solid"/>
          </a:ln>
        </p:spPr>
      </p:sp>
      <p:sp>
        <p:nvSpPr>
          <p:cNvPr id="27" name="Text 25"/>
          <p:cNvSpPr/>
          <p:nvPr/>
        </p:nvSpPr>
        <p:spPr>
          <a:xfrm>
            <a:off x="4846320" y="2423160"/>
            <a:ext cx="1371600" cy="566928"/>
          </a:xfrm>
          <a:prstGeom prst="rect">
            <a:avLst/>
          </a:prstGeom>
          <a:noFill/>
          <a:ln/>
        </p:spPr>
        <p:txBody>
          <a:bodyPr wrap="square" lIns="50800" tIns="50800" rIns="50800" bIns="50800" rtlCol="0" anchor="t"/>
          <a:lstStyle/>
          <a:p>
            <a:pPr marL="0" indent="0" algn="l">
              <a:buNone/>
            </a:pPr>
            <a:r>
              <a:rPr lang="en-US" sz="2800" b="1" dirty="0">
                <a:solidFill>
                  <a:srgbClr val="1DE9B6"/>
                </a:solidFill>
                <a:latin typeface="Calibri" pitchFamily="34" charset="0"/>
                <a:ea typeface="Calibri" pitchFamily="34" charset="-122"/>
                <a:cs typeface="Calibri" pitchFamily="34" charset="-120"/>
              </a:rPr>
              <a:t>3,003</a:t>
            </a:r>
            <a:endParaRPr lang="en-US" sz="2800" dirty="0"/>
          </a:p>
        </p:txBody>
      </p:sp>
      <p:sp>
        <p:nvSpPr>
          <p:cNvPr id="28" name="Text 26"/>
          <p:cNvSpPr/>
          <p:nvPr/>
        </p:nvSpPr>
        <p:spPr>
          <a:xfrm>
            <a:off x="6309360" y="2587752"/>
            <a:ext cx="2423160" cy="320040"/>
          </a:xfrm>
          <a:prstGeom prst="rect">
            <a:avLst/>
          </a:prstGeom>
          <a:noFill/>
          <a:ln/>
        </p:spPr>
        <p:txBody>
          <a:bodyPr wrap="square" lIns="50800" tIns="50800" rIns="50800" bIns="50800" rtlCol="0" anchor="t"/>
          <a:lstStyle/>
          <a:p>
            <a:pPr marL="0" indent="0" algn="l">
              <a:buNone/>
            </a:pPr>
            <a:r>
              <a:rPr lang="en-US" sz="1000" dirty="0">
                <a:solidFill>
                  <a:srgbClr val="7FA8C0"/>
                </a:solidFill>
                <a:latin typeface="Calibri" pitchFamily="34" charset="0"/>
                <a:ea typeface="Calibri" pitchFamily="34" charset="-122"/>
                <a:cs typeface="Calibri" pitchFamily="34" charset="-120"/>
              </a:rPr>
              <a:t>Non-dropout cases (class 0)</a:t>
            </a:r>
            <a:endParaRPr lang="en-US" sz="1000" dirty="0"/>
          </a:p>
        </p:txBody>
      </p:sp>
      <p:sp>
        <p:nvSpPr>
          <p:cNvPr id="29" name="Shape 27"/>
          <p:cNvSpPr/>
          <p:nvPr/>
        </p:nvSpPr>
        <p:spPr>
          <a:xfrm>
            <a:off x="4663440" y="3108960"/>
            <a:ext cx="4206240" cy="173736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pic>
        <p:nvPicPr>
          <p:cNvPr id="30" name="Image 0" descr="preencoded.png"/>
          <p:cNvPicPr>
            <a:picLocks noChangeAspect="1"/>
          </p:cNvPicPr>
          <p:nvPr/>
        </p:nvPicPr>
        <p:blipFill>
          <a:blip r:embed="rId3"/>
          <a:srcRect/>
          <a:stretch/>
        </p:blipFill>
        <p:spPr>
          <a:xfrm>
            <a:off x="4736592" y="3191256"/>
            <a:ext cx="4059936" cy="1581912"/>
          </a:xfrm>
          <a:prstGeom prst="rect">
            <a:avLst/>
          </a:prstGeom>
        </p:spPr>
      </p:pic>
      <p:sp>
        <p:nvSpPr>
          <p:cNvPr id="31" name="Text 28"/>
          <p:cNvSpPr/>
          <p:nvPr/>
        </p:nvSpPr>
        <p:spPr>
          <a:xfrm>
            <a:off x="4663440" y="4846320"/>
            <a:ext cx="4206240" cy="201168"/>
          </a:xfrm>
          <a:prstGeom prst="rect">
            <a:avLst/>
          </a:prstGeom>
          <a:noFill/>
          <a:ln/>
        </p:spPr>
        <p:txBody>
          <a:bodyPr wrap="square" lIns="50800" tIns="50800" rIns="50800" bIns="50800" rtlCol="0" anchor="t"/>
          <a:lstStyle/>
          <a:p>
            <a:pPr marL="0" indent="0" algn="l">
              <a:buNone/>
            </a:pPr>
            <a:r>
              <a:rPr lang="en-US" sz="750" i="1" dirty="0">
                <a:solidFill>
                  <a:srgbClr val="7FA8C0"/>
                </a:solidFill>
                <a:latin typeface="Calibri" pitchFamily="34" charset="0"/>
                <a:ea typeface="Calibri" pitchFamily="34" charset="-122"/>
                <a:cs typeface="Calibri" pitchFamily="34" charset="-120"/>
              </a:rPr>
              <a:t>Fig 1: Binary target distribution after 3-class → binary transformation</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Machine Learning Problem Definition</a:t>
            </a:r>
            <a:endParaRPr lang="en-US" sz="1600" dirty="0"/>
          </a:p>
        </p:txBody>
      </p:sp>
      <p:sp>
        <p:nvSpPr>
          <p:cNvPr id="4" name="Shape 2"/>
          <p:cNvSpPr/>
          <p:nvPr/>
        </p:nvSpPr>
        <p:spPr>
          <a:xfrm>
            <a:off x="274320" y="603504"/>
            <a:ext cx="8595360" cy="493776"/>
          </a:xfrm>
          <a:prstGeom prst="rect">
            <a:avLst/>
          </a:prstGeom>
          <a:solidFill>
            <a:srgbClr val="0D7C7C"/>
          </a:solidFill>
          <a:ln w="12700">
            <a:solidFill>
              <a:srgbClr val="0D7C7C"/>
            </a:solidFill>
            <a:prstDash val="solid"/>
          </a:ln>
        </p:spPr>
      </p:sp>
      <p:sp>
        <p:nvSpPr>
          <p:cNvPr id="5" name="Text 3"/>
          <p:cNvSpPr/>
          <p:nvPr/>
        </p:nvSpPr>
        <p:spPr>
          <a:xfrm>
            <a:off x="274320" y="603504"/>
            <a:ext cx="8595360"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Task Type: Supervised Binary Classification</a:t>
            </a:r>
            <a:endParaRPr lang="en-US" sz="1600" dirty="0"/>
          </a:p>
        </p:txBody>
      </p:sp>
      <p:sp>
        <p:nvSpPr>
          <p:cNvPr id="6" name="Shape 4"/>
          <p:cNvSpPr/>
          <p:nvPr/>
        </p:nvSpPr>
        <p:spPr>
          <a:xfrm>
            <a:off x="274320" y="1188720"/>
            <a:ext cx="2743200" cy="37490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7" name="Shape 5"/>
          <p:cNvSpPr/>
          <p:nvPr/>
        </p:nvSpPr>
        <p:spPr>
          <a:xfrm>
            <a:off x="274320" y="1188720"/>
            <a:ext cx="2743200" cy="365760"/>
          </a:xfrm>
          <a:prstGeom prst="rect">
            <a:avLst/>
          </a:prstGeom>
          <a:solidFill>
            <a:srgbClr val="0D7C7C"/>
          </a:solidFill>
          <a:ln w="12700">
            <a:solidFill>
              <a:srgbClr val="0D7C7C"/>
            </a:solidFill>
            <a:prstDash val="solid"/>
          </a:ln>
        </p:spPr>
      </p:sp>
      <p:sp>
        <p:nvSpPr>
          <p:cNvPr id="8" name="Text 6"/>
          <p:cNvSpPr/>
          <p:nvPr/>
        </p:nvSpPr>
        <p:spPr>
          <a:xfrm>
            <a:off x="274320" y="1188720"/>
            <a:ext cx="2743200" cy="365760"/>
          </a:xfrm>
          <a:prstGeom prst="rect">
            <a:avLst/>
          </a:prstGeom>
          <a:noFill/>
          <a:ln/>
        </p:spPr>
        <p:txBody>
          <a:bodyPr wrap="square" lIns="0" tIns="0" rIns="0" bIns="0" rtlCol="0" anchor="ctr"/>
          <a:lstStyle/>
          <a:p>
            <a:pPr marL="0" indent="0" algn="ctr">
              <a:buNone/>
            </a:pPr>
            <a:r>
              <a:rPr lang="en-US" sz="1200" b="1" dirty="0">
                <a:solidFill>
                  <a:srgbClr val="071221"/>
                </a:solidFill>
                <a:latin typeface="Calibri" pitchFamily="34" charset="0"/>
                <a:ea typeface="Calibri" pitchFamily="34" charset="-122"/>
                <a:cs typeface="Calibri" pitchFamily="34" charset="-120"/>
              </a:rPr>
              <a:t>Target Variable</a:t>
            </a:r>
            <a:endParaRPr lang="en-US" sz="1200" dirty="0"/>
          </a:p>
        </p:txBody>
      </p:sp>
      <p:sp>
        <p:nvSpPr>
          <p:cNvPr id="9" name="Shape 7"/>
          <p:cNvSpPr/>
          <p:nvPr/>
        </p:nvSpPr>
        <p:spPr>
          <a:xfrm>
            <a:off x="402336" y="1664208"/>
            <a:ext cx="2487168" cy="914400"/>
          </a:xfrm>
          <a:prstGeom prst="rect">
            <a:avLst/>
          </a:prstGeom>
          <a:solidFill>
            <a:srgbClr val="162840"/>
          </a:solidFill>
          <a:ln w="7620">
            <a:solidFill>
              <a:srgbClr val="0D7C7C"/>
            </a:solidFill>
            <a:prstDash val="solid"/>
          </a:ln>
        </p:spPr>
      </p:sp>
      <p:sp>
        <p:nvSpPr>
          <p:cNvPr id="10" name="Text 8"/>
          <p:cNvSpPr/>
          <p:nvPr/>
        </p:nvSpPr>
        <p:spPr>
          <a:xfrm>
            <a:off x="457200" y="171907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Original: 3 classes</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Dropout / Enrolled / Graduate</a:t>
            </a:r>
            <a:endParaRPr lang="en-US" sz="1000" dirty="0"/>
          </a:p>
        </p:txBody>
      </p:sp>
      <p:sp>
        <p:nvSpPr>
          <p:cNvPr id="11" name="Shape 9"/>
          <p:cNvSpPr/>
          <p:nvPr/>
        </p:nvSpPr>
        <p:spPr>
          <a:xfrm>
            <a:off x="402336" y="2715768"/>
            <a:ext cx="2487168" cy="914400"/>
          </a:xfrm>
          <a:prstGeom prst="rect">
            <a:avLst/>
          </a:prstGeom>
          <a:solidFill>
            <a:srgbClr val="162840"/>
          </a:solidFill>
          <a:ln w="7620">
            <a:solidFill>
              <a:srgbClr val="0D7C7C"/>
            </a:solidFill>
            <a:prstDash val="solid"/>
          </a:ln>
        </p:spPr>
      </p:sp>
      <p:sp>
        <p:nvSpPr>
          <p:cNvPr id="12" name="Text 10"/>
          <p:cNvSpPr/>
          <p:nvPr/>
        </p:nvSpPr>
        <p:spPr>
          <a:xfrm>
            <a:off x="457200" y="277063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Binarised:</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1 = Dropout</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0 = Enrolled + Graduate</a:t>
            </a:r>
            <a:endParaRPr lang="en-US" sz="1000" dirty="0"/>
          </a:p>
        </p:txBody>
      </p:sp>
      <p:sp>
        <p:nvSpPr>
          <p:cNvPr id="13" name="Shape 11"/>
          <p:cNvSpPr/>
          <p:nvPr/>
        </p:nvSpPr>
        <p:spPr>
          <a:xfrm>
            <a:off x="3182112" y="1188720"/>
            <a:ext cx="2743200" cy="37490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4" name="Shape 12"/>
          <p:cNvSpPr/>
          <p:nvPr/>
        </p:nvSpPr>
        <p:spPr>
          <a:xfrm>
            <a:off x="3182112" y="1188720"/>
            <a:ext cx="2743200" cy="365760"/>
          </a:xfrm>
          <a:prstGeom prst="rect">
            <a:avLst/>
          </a:prstGeom>
          <a:solidFill>
            <a:srgbClr val="F4A535"/>
          </a:solidFill>
          <a:ln w="12700">
            <a:solidFill>
              <a:srgbClr val="F4A535"/>
            </a:solidFill>
            <a:prstDash val="solid"/>
          </a:ln>
        </p:spPr>
      </p:sp>
      <p:sp>
        <p:nvSpPr>
          <p:cNvPr id="15" name="Text 13"/>
          <p:cNvSpPr/>
          <p:nvPr/>
        </p:nvSpPr>
        <p:spPr>
          <a:xfrm>
            <a:off x="3182112" y="1188720"/>
            <a:ext cx="2743200" cy="365760"/>
          </a:xfrm>
          <a:prstGeom prst="rect">
            <a:avLst/>
          </a:prstGeom>
          <a:noFill/>
          <a:ln/>
        </p:spPr>
        <p:txBody>
          <a:bodyPr wrap="square" lIns="0" tIns="0" rIns="0" bIns="0" rtlCol="0" anchor="ctr"/>
          <a:lstStyle/>
          <a:p>
            <a:pPr marL="0" indent="0" algn="ctr">
              <a:buNone/>
            </a:pPr>
            <a:r>
              <a:rPr lang="en-US" sz="1200" b="1" dirty="0">
                <a:solidFill>
                  <a:srgbClr val="071221"/>
                </a:solidFill>
                <a:latin typeface="Calibri" pitchFamily="34" charset="0"/>
                <a:ea typeface="Calibri" pitchFamily="34" charset="-122"/>
                <a:cs typeface="Calibri" pitchFamily="34" charset="-120"/>
              </a:rPr>
              <a:t>Input Features</a:t>
            </a:r>
            <a:endParaRPr lang="en-US" sz="1200" dirty="0"/>
          </a:p>
        </p:txBody>
      </p:sp>
      <p:sp>
        <p:nvSpPr>
          <p:cNvPr id="16" name="Shape 14"/>
          <p:cNvSpPr/>
          <p:nvPr/>
        </p:nvSpPr>
        <p:spPr>
          <a:xfrm>
            <a:off x="3310128" y="1664208"/>
            <a:ext cx="2487168" cy="914400"/>
          </a:xfrm>
          <a:prstGeom prst="rect">
            <a:avLst/>
          </a:prstGeom>
          <a:solidFill>
            <a:srgbClr val="162840"/>
          </a:solidFill>
          <a:ln w="7620">
            <a:solidFill>
              <a:srgbClr val="F4A535"/>
            </a:solidFill>
            <a:prstDash val="solid"/>
          </a:ln>
        </p:spPr>
      </p:sp>
      <p:sp>
        <p:nvSpPr>
          <p:cNvPr id="17" name="Text 15"/>
          <p:cNvSpPr/>
          <p:nvPr/>
        </p:nvSpPr>
        <p:spPr>
          <a:xfrm>
            <a:off x="3364992" y="171907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Demographic</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(age, gender, marital status, nationality)</a:t>
            </a:r>
            <a:endParaRPr lang="en-US" sz="1000" dirty="0"/>
          </a:p>
        </p:txBody>
      </p:sp>
      <p:sp>
        <p:nvSpPr>
          <p:cNvPr id="18" name="Shape 16"/>
          <p:cNvSpPr/>
          <p:nvPr/>
        </p:nvSpPr>
        <p:spPr>
          <a:xfrm>
            <a:off x="3310128" y="2715768"/>
            <a:ext cx="2487168" cy="914400"/>
          </a:xfrm>
          <a:prstGeom prst="rect">
            <a:avLst/>
          </a:prstGeom>
          <a:solidFill>
            <a:srgbClr val="162840"/>
          </a:solidFill>
          <a:ln w="7620">
            <a:solidFill>
              <a:srgbClr val="F4A535"/>
            </a:solidFill>
            <a:prstDash val="solid"/>
          </a:ln>
        </p:spPr>
      </p:sp>
      <p:sp>
        <p:nvSpPr>
          <p:cNvPr id="19" name="Text 17"/>
          <p:cNvSpPr/>
          <p:nvPr/>
        </p:nvSpPr>
        <p:spPr>
          <a:xfrm>
            <a:off x="3364992" y="277063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Academic</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(semester grades, approved units, evaluations)</a:t>
            </a:r>
            <a:endParaRPr lang="en-US" sz="1000" dirty="0"/>
          </a:p>
        </p:txBody>
      </p:sp>
      <p:sp>
        <p:nvSpPr>
          <p:cNvPr id="20" name="Shape 18"/>
          <p:cNvSpPr/>
          <p:nvPr/>
        </p:nvSpPr>
        <p:spPr>
          <a:xfrm>
            <a:off x="3310128" y="3767328"/>
            <a:ext cx="2487168" cy="914400"/>
          </a:xfrm>
          <a:prstGeom prst="rect">
            <a:avLst/>
          </a:prstGeom>
          <a:solidFill>
            <a:srgbClr val="162840"/>
          </a:solidFill>
          <a:ln w="7620">
            <a:solidFill>
              <a:srgbClr val="F4A535"/>
            </a:solidFill>
            <a:prstDash val="solid"/>
          </a:ln>
        </p:spPr>
      </p:sp>
      <p:sp>
        <p:nvSpPr>
          <p:cNvPr id="21" name="Text 19"/>
          <p:cNvSpPr/>
          <p:nvPr/>
        </p:nvSpPr>
        <p:spPr>
          <a:xfrm>
            <a:off x="3364992" y="382219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Socioeconomic</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(fees, debt, scholarship, parental occupation)</a:t>
            </a:r>
            <a:endParaRPr lang="en-US" sz="1000" dirty="0"/>
          </a:p>
        </p:txBody>
      </p:sp>
      <p:sp>
        <p:nvSpPr>
          <p:cNvPr id="22" name="Shape 20"/>
          <p:cNvSpPr/>
          <p:nvPr/>
        </p:nvSpPr>
        <p:spPr>
          <a:xfrm>
            <a:off x="6089904" y="1188720"/>
            <a:ext cx="2743200" cy="37490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3" name="Shape 21"/>
          <p:cNvSpPr/>
          <p:nvPr/>
        </p:nvSpPr>
        <p:spPr>
          <a:xfrm>
            <a:off x="6089904" y="1188720"/>
            <a:ext cx="2743200" cy="365760"/>
          </a:xfrm>
          <a:prstGeom prst="rect">
            <a:avLst/>
          </a:prstGeom>
          <a:solidFill>
            <a:srgbClr val="1DE9B6"/>
          </a:solidFill>
          <a:ln w="12700">
            <a:solidFill>
              <a:srgbClr val="1DE9B6"/>
            </a:solidFill>
            <a:prstDash val="solid"/>
          </a:ln>
        </p:spPr>
      </p:sp>
      <p:sp>
        <p:nvSpPr>
          <p:cNvPr id="24" name="Text 22"/>
          <p:cNvSpPr/>
          <p:nvPr/>
        </p:nvSpPr>
        <p:spPr>
          <a:xfrm>
            <a:off x="6089904" y="1188720"/>
            <a:ext cx="2743200" cy="365760"/>
          </a:xfrm>
          <a:prstGeom prst="rect">
            <a:avLst/>
          </a:prstGeom>
          <a:noFill/>
          <a:ln/>
        </p:spPr>
        <p:txBody>
          <a:bodyPr wrap="square" lIns="0" tIns="0" rIns="0" bIns="0" rtlCol="0" anchor="ctr"/>
          <a:lstStyle/>
          <a:p>
            <a:pPr marL="0" indent="0" algn="ctr">
              <a:buNone/>
            </a:pPr>
            <a:r>
              <a:rPr lang="en-US" sz="1200" b="1" dirty="0">
                <a:solidFill>
                  <a:srgbClr val="071221"/>
                </a:solidFill>
                <a:latin typeface="Calibri" pitchFamily="34" charset="0"/>
                <a:ea typeface="Calibri" pitchFamily="34" charset="-122"/>
                <a:cs typeface="Calibri" pitchFamily="34" charset="-120"/>
              </a:rPr>
              <a:t>Evaluation Goal</a:t>
            </a:r>
            <a:endParaRPr lang="en-US" sz="1200" dirty="0"/>
          </a:p>
        </p:txBody>
      </p:sp>
      <p:sp>
        <p:nvSpPr>
          <p:cNvPr id="25" name="Shape 23"/>
          <p:cNvSpPr/>
          <p:nvPr/>
        </p:nvSpPr>
        <p:spPr>
          <a:xfrm>
            <a:off x="6217920" y="1664208"/>
            <a:ext cx="2487168" cy="914400"/>
          </a:xfrm>
          <a:prstGeom prst="rect">
            <a:avLst/>
          </a:prstGeom>
          <a:solidFill>
            <a:srgbClr val="162840"/>
          </a:solidFill>
          <a:ln w="7620">
            <a:solidFill>
              <a:srgbClr val="1DE9B6"/>
            </a:solidFill>
            <a:prstDash val="solid"/>
          </a:ln>
        </p:spPr>
      </p:sp>
      <p:sp>
        <p:nvSpPr>
          <p:cNvPr id="26" name="Text 24"/>
          <p:cNvSpPr/>
          <p:nvPr/>
        </p:nvSpPr>
        <p:spPr>
          <a:xfrm>
            <a:off x="6272784" y="171907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Primary metric: F1-Score</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(penalises missed at-risk students equally with false alarms)</a:t>
            </a:r>
            <a:endParaRPr lang="en-US" sz="1000" dirty="0"/>
          </a:p>
        </p:txBody>
      </p:sp>
      <p:sp>
        <p:nvSpPr>
          <p:cNvPr id="27" name="Shape 25"/>
          <p:cNvSpPr/>
          <p:nvPr/>
        </p:nvSpPr>
        <p:spPr>
          <a:xfrm>
            <a:off x="6217920" y="2715768"/>
            <a:ext cx="2487168" cy="914400"/>
          </a:xfrm>
          <a:prstGeom prst="rect">
            <a:avLst/>
          </a:prstGeom>
          <a:solidFill>
            <a:srgbClr val="162840"/>
          </a:solidFill>
          <a:ln w="7620">
            <a:solidFill>
              <a:srgbClr val="1DE9B6"/>
            </a:solidFill>
            <a:prstDash val="solid"/>
          </a:ln>
        </p:spPr>
      </p:sp>
      <p:sp>
        <p:nvSpPr>
          <p:cNvPr id="28" name="Text 26"/>
          <p:cNvSpPr/>
          <p:nvPr/>
        </p:nvSpPr>
        <p:spPr>
          <a:xfrm>
            <a:off x="6272784" y="2770632"/>
            <a:ext cx="2395728" cy="82296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Secondary: ROC-AUC</a:t>
            </a:r>
            <a:endParaRPr lang="en-US" sz="1000" dirty="0"/>
          </a:p>
          <a:p>
            <a:pPr marL="0" indent="0" algn="l">
              <a:buNone/>
            </a:pPr>
            <a:r>
              <a:rPr lang="en-US" sz="1000" dirty="0">
                <a:solidFill>
                  <a:srgbClr val="D6EAF8"/>
                </a:solidFill>
                <a:latin typeface="Calibri" pitchFamily="34" charset="0"/>
                <a:ea typeface="Calibri" pitchFamily="34" charset="-122"/>
                <a:cs typeface="Calibri" pitchFamily="34" charset="-120"/>
              </a:rPr>
              <a:t>Accuracy · Precision · Recall</a:t>
            </a:r>
            <a:endParaRPr lang="en-US" sz="1000" dirty="0"/>
          </a:p>
        </p:txBody>
      </p:sp>
      <p:sp>
        <p:nvSpPr>
          <p:cNvPr id="29" name="Shape 27"/>
          <p:cNvSpPr/>
          <p:nvPr/>
        </p:nvSpPr>
        <p:spPr>
          <a:xfrm>
            <a:off x="274320" y="4846320"/>
            <a:ext cx="8595360" cy="228600"/>
          </a:xfrm>
          <a:prstGeom prst="rect">
            <a:avLst/>
          </a:prstGeom>
          <a:solidFill>
            <a:srgbClr val="162840"/>
          </a:solidFill>
          <a:ln w="7620">
            <a:solidFill>
              <a:srgbClr val="F4A535"/>
            </a:solidFill>
            <a:prstDash val="solid"/>
          </a:ln>
        </p:spPr>
      </p:sp>
      <p:sp>
        <p:nvSpPr>
          <p:cNvPr id="30" name="Text 28"/>
          <p:cNvSpPr/>
          <p:nvPr/>
        </p:nvSpPr>
        <p:spPr>
          <a:xfrm>
            <a:off x="365760" y="4846320"/>
            <a:ext cx="8412480" cy="228600"/>
          </a:xfrm>
          <a:prstGeom prst="rect">
            <a:avLst/>
          </a:prstGeom>
          <a:noFill/>
          <a:ln/>
        </p:spPr>
        <p:txBody>
          <a:bodyPr wrap="square" lIns="50800" tIns="50800" rIns="50800" bIns="50800" rtlCol="0" anchor="ctr"/>
          <a:lstStyle/>
          <a:p>
            <a:pPr marL="0" indent="0" algn="l">
              <a:buNone/>
            </a:pPr>
            <a:r>
              <a:rPr lang="en-US" sz="950" i="1" dirty="0">
                <a:solidFill>
                  <a:srgbClr val="F4A535"/>
                </a:solidFill>
                <a:latin typeface="Calibri" pitchFamily="34" charset="0"/>
                <a:ea typeface="Calibri" pitchFamily="34" charset="-122"/>
                <a:cs typeface="Calibri" pitchFamily="34" charset="-120"/>
              </a:rPr>
              <a:t>F1-Score is chosen as primary metric because a missed dropout case (false negative) carries higher institutional cost than a false alarm.</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Dataset Description UCI ML Repository (Realinho et al., 2022)</a:t>
            </a:r>
            <a:endParaRPr lang="en-US" sz="1600" dirty="0"/>
          </a:p>
        </p:txBody>
      </p:sp>
      <p:sp>
        <p:nvSpPr>
          <p:cNvPr id="4" name="Shape 2"/>
          <p:cNvSpPr/>
          <p:nvPr/>
        </p:nvSpPr>
        <p:spPr>
          <a:xfrm>
            <a:off x="274320" y="731520"/>
            <a:ext cx="1993392" cy="8686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5" name="Text 3"/>
          <p:cNvSpPr/>
          <p:nvPr/>
        </p:nvSpPr>
        <p:spPr>
          <a:xfrm>
            <a:off x="274320" y="749808"/>
            <a:ext cx="1993392" cy="512064"/>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4,424</a:t>
            </a:r>
            <a:endParaRPr lang="en-US" sz="2600" dirty="0"/>
          </a:p>
        </p:txBody>
      </p:sp>
      <p:sp>
        <p:nvSpPr>
          <p:cNvPr id="6" name="Text 4"/>
          <p:cNvSpPr/>
          <p:nvPr/>
        </p:nvSpPr>
        <p:spPr>
          <a:xfrm>
            <a:off x="274320" y="1252728"/>
            <a:ext cx="1993392" cy="256032"/>
          </a:xfrm>
          <a:prstGeom prst="rect">
            <a:avLst/>
          </a:prstGeom>
          <a:noFill/>
          <a:ln/>
        </p:spPr>
        <p:txBody>
          <a:bodyPr wrap="square" lIns="50800" tIns="50800" rIns="50800" bIns="50800" rtlCol="0" anchor="t"/>
          <a:lstStyle/>
          <a:p>
            <a:pPr marL="0" indent="0" algn="ctr">
              <a:buNone/>
            </a:pPr>
            <a:r>
              <a:rPr lang="en-US" sz="950" dirty="0">
                <a:solidFill>
                  <a:srgbClr val="7FA8C0"/>
                </a:solidFill>
                <a:latin typeface="Calibri" pitchFamily="34" charset="0"/>
                <a:ea typeface="Calibri" pitchFamily="34" charset="-122"/>
                <a:cs typeface="Calibri" pitchFamily="34" charset="-120"/>
              </a:rPr>
              <a:t>Total Records</a:t>
            </a:r>
            <a:endParaRPr lang="en-US" sz="950" dirty="0"/>
          </a:p>
        </p:txBody>
      </p:sp>
      <p:sp>
        <p:nvSpPr>
          <p:cNvPr id="7" name="Shape 5"/>
          <p:cNvSpPr/>
          <p:nvPr/>
        </p:nvSpPr>
        <p:spPr>
          <a:xfrm>
            <a:off x="2450592" y="731520"/>
            <a:ext cx="1993392" cy="8686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8" name="Text 6"/>
          <p:cNvSpPr/>
          <p:nvPr/>
        </p:nvSpPr>
        <p:spPr>
          <a:xfrm>
            <a:off x="2450592" y="749808"/>
            <a:ext cx="1993392" cy="512064"/>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37</a:t>
            </a:r>
            <a:endParaRPr lang="en-US" sz="2600" dirty="0"/>
          </a:p>
        </p:txBody>
      </p:sp>
      <p:sp>
        <p:nvSpPr>
          <p:cNvPr id="9" name="Text 7"/>
          <p:cNvSpPr/>
          <p:nvPr/>
        </p:nvSpPr>
        <p:spPr>
          <a:xfrm>
            <a:off x="2450592" y="1252728"/>
            <a:ext cx="1993392" cy="256032"/>
          </a:xfrm>
          <a:prstGeom prst="rect">
            <a:avLst/>
          </a:prstGeom>
          <a:noFill/>
          <a:ln/>
        </p:spPr>
        <p:txBody>
          <a:bodyPr wrap="square" lIns="50800" tIns="50800" rIns="50800" bIns="50800" rtlCol="0" anchor="t"/>
          <a:lstStyle/>
          <a:p>
            <a:pPr marL="0" indent="0" algn="ctr">
              <a:buNone/>
            </a:pPr>
            <a:r>
              <a:rPr lang="en-US" sz="950" dirty="0">
                <a:solidFill>
                  <a:srgbClr val="7FA8C0"/>
                </a:solidFill>
                <a:latin typeface="Calibri" pitchFamily="34" charset="0"/>
                <a:ea typeface="Calibri" pitchFamily="34" charset="-122"/>
                <a:cs typeface="Calibri" pitchFamily="34" charset="-120"/>
              </a:rPr>
              <a:t>Features</a:t>
            </a:r>
            <a:endParaRPr lang="en-US" sz="950" dirty="0"/>
          </a:p>
        </p:txBody>
      </p:sp>
      <p:sp>
        <p:nvSpPr>
          <p:cNvPr id="10" name="Shape 8"/>
          <p:cNvSpPr/>
          <p:nvPr/>
        </p:nvSpPr>
        <p:spPr>
          <a:xfrm>
            <a:off x="4626864" y="731520"/>
            <a:ext cx="1993392" cy="8686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Text 9"/>
          <p:cNvSpPr/>
          <p:nvPr/>
        </p:nvSpPr>
        <p:spPr>
          <a:xfrm>
            <a:off x="4626864" y="749808"/>
            <a:ext cx="1993392" cy="512064"/>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0</a:t>
            </a:r>
            <a:endParaRPr lang="en-US" sz="2600" dirty="0"/>
          </a:p>
        </p:txBody>
      </p:sp>
      <p:sp>
        <p:nvSpPr>
          <p:cNvPr id="12" name="Text 10"/>
          <p:cNvSpPr/>
          <p:nvPr/>
        </p:nvSpPr>
        <p:spPr>
          <a:xfrm>
            <a:off x="4626864" y="1252728"/>
            <a:ext cx="1993392" cy="256032"/>
          </a:xfrm>
          <a:prstGeom prst="rect">
            <a:avLst/>
          </a:prstGeom>
          <a:noFill/>
          <a:ln/>
        </p:spPr>
        <p:txBody>
          <a:bodyPr wrap="square" lIns="50800" tIns="50800" rIns="50800" bIns="50800" rtlCol="0" anchor="t"/>
          <a:lstStyle/>
          <a:p>
            <a:pPr marL="0" indent="0" algn="ctr">
              <a:buNone/>
            </a:pPr>
            <a:r>
              <a:rPr lang="en-US" sz="950" dirty="0">
                <a:solidFill>
                  <a:srgbClr val="7FA8C0"/>
                </a:solidFill>
                <a:latin typeface="Calibri" pitchFamily="34" charset="0"/>
                <a:ea typeface="Calibri" pitchFamily="34" charset="-122"/>
                <a:cs typeface="Calibri" pitchFamily="34" charset="-120"/>
              </a:rPr>
              <a:t>Missing Values</a:t>
            </a:r>
            <a:endParaRPr lang="en-US" sz="950" dirty="0"/>
          </a:p>
        </p:txBody>
      </p:sp>
      <p:sp>
        <p:nvSpPr>
          <p:cNvPr id="13" name="Shape 11"/>
          <p:cNvSpPr/>
          <p:nvPr/>
        </p:nvSpPr>
        <p:spPr>
          <a:xfrm>
            <a:off x="6803136" y="731520"/>
            <a:ext cx="1993392" cy="8686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4" name="Text 12"/>
          <p:cNvSpPr/>
          <p:nvPr/>
        </p:nvSpPr>
        <p:spPr>
          <a:xfrm>
            <a:off x="6803136" y="749808"/>
            <a:ext cx="1993392" cy="512064"/>
          </a:xfrm>
          <a:prstGeom prst="rect">
            <a:avLst/>
          </a:prstGeom>
          <a:noFill/>
          <a:ln/>
        </p:spPr>
        <p:txBody>
          <a:bodyPr wrap="square" lIns="50800" tIns="50800" rIns="50800" bIns="50800" rtlCol="0" anchor="t"/>
          <a:lstStyle/>
          <a:p>
            <a:pPr marL="0" indent="0" algn="ctr">
              <a:buNone/>
            </a:pPr>
            <a:r>
              <a:rPr lang="en-US" sz="2600" b="1" dirty="0">
                <a:solidFill>
                  <a:srgbClr val="1DE9B6"/>
                </a:solidFill>
                <a:latin typeface="Calibri" pitchFamily="34" charset="0"/>
                <a:ea typeface="Calibri" pitchFamily="34" charset="-122"/>
                <a:cs typeface="Calibri" pitchFamily="34" charset="-120"/>
              </a:rPr>
              <a:t>~32%</a:t>
            </a:r>
            <a:endParaRPr lang="en-US" sz="2600" dirty="0"/>
          </a:p>
        </p:txBody>
      </p:sp>
      <p:sp>
        <p:nvSpPr>
          <p:cNvPr id="15" name="Text 13"/>
          <p:cNvSpPr/>
          <p:nvPr/>
        </p:nvSpPr>
        <p:spPr>
          <a:xfrm>
            <a:off x="6803136" y="1252728"/>
            <a:ext cx="1993392" cy="256032"/>
          </a:xfrm>
          <a:prstGeom prst="rect">
            <a:avLst/>
          </a:prstGeom>
          <a:noFill/>
          <a:ln/>
        </p:spPr>
        <p:txBody>
          <a:bodyPr wrap="square" lIns="50800" tIns="50800" rIns="50800" bIns="50800" rtlCol="0" anchor="t"/>
          <a:lstStyle/>
          <a:p>
            <a:pPr marL="0" indent="0" algn="ctr">
              <a:buNone/>
            </a:pPr>
            <a:r>
              <a:rPr lang="en-US" sz="950" dirty="0">
                <a:solidFill>
                  <a:srgbClr val="7FA8C0"/>
                </a:solidFill>
                <a:latin typeface="Calibri" pitchFamily="34" charset="0"/>
                <a:ea typeface="Calibri" pitchFamily="34" charset="-122"/>
                <a:cs typeface="Calibri" pitchFamily="34" charset="-120"/>
              </a:rPr>
              <a:t>Dropout Rate</a:t>
            </a:r>
            <a:endParaRPr lang="en-US" sz="950" dirty="0"/>
          </a:p>
        </p:txBody>
      </p:sp>
      <p:sp>
        <p:nvSpPr>
          <p:cNvPr id="16" name="Shape 14"/>
          <p:cNvSpPr/>
          <p:nvPr/>
        </p:nvSpPr>
        <p:spPr>
          <a:xfrm>
            <a:off x="274320" y="1600200"/>
            <a:ext cx="2743200" cy="32918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7" name="Shape 15"/>
          <p:cNvSpPr/>
          <p:nvPr/>
        </p:nvSpPr>
        <p:spPr>
          <a:xfrm>
            <a:off x="274320" y="1600200"/>
            <a:ext cx="2743200" cy="365760"/>
          </a:xfrm>
          <a:prstGeom prst="rect">
            <a:avLst/>
          </a:prstGeom>
          <a:solidFill>
            <a:srgbClr val="0D7C7C"/>
          </a:solidFill>
          <a:ln w="12700">
            <a:solidFill>
              <a:srgbClr val="0D7C7C"/>
            </a:solidFill>
            <a:prstDash val="solid"/>
          </a:ln>
        </p:spPr>
      </p:sp>
      <p:sp>
        <p:nvSpPr>
          <p:cNvPr id="18" name="Text 16"/>
          <p:cNvSpPr/>
          <p:nvPr/>
        </p:nvSpPr>
        <p:spPr>
          <a:xfrm>
            <a:off x="274320" y="1600200"/>
            <a:ext cx="2743200" cy="365760"/>
          </a:xfrm>
          <a:prstGeom prst="rect">
            <a:avLst/>
          </a:prstGeom>
          <a:noFill/>
          <a:ln/>
        </p:spPr>
        <p:txBody>
          <a:bodyPr wrap="square" lIns="0" tIns="0" rIns="0" bIns="0" rtlCol="0" anchor="ctr"/>
          <a:lstStyle/>
          <a:p>
            <a:pPr marL="0" indent="0" algn="ctr">
              <a:buNone/>
            </a:pPr>
            <a:r>
              <a:rPr lang="en-US" sz="1100" b="1" dirty="0">
                <a:solidFill>
                  <a:srgbClr val="071221"/>
                </a:solidFill>
                <a:latin typeface="Calibri" pitchFamily="34" charset="0"/>
                <a:ea typeface="Calibri" pitchFamily="34" charset="-122"/>
                <a:cs typeface="Calibri" pitchFamily="34" charset="-120"/>
              </a:rPr>
              <a:t>Demographic Features</a:t>
            </a:r>
            <a:endParaRPr lang="en-US" sz="1100" dirty="0"/>
          </a:p>
        </p:txBody>
      </p:sp>
      <p:sp>
        <p:nvSpPr>
          <p:cNvPr id="19" name="Text 17"/>
          <p:cNvSpPr/>
          <p:nvPr/>
        </p:nvSpPr>
        <p:spPr>
          <a:xfrm>
            <a:off x="402336" y="2029968"/>
            <a:ext cx="2487168" cy="2743200"/>
          </a:xfrm>
          <a:prstGeom prst="rect">
            <a:avLst/>
          </a:prstGeom>
          <a:noFill/>
          <a:ln/>
        </p:spPr>
        <p:txBody>
          <a:bodyPr wrap="square" lIns="50800" tIns="50800" rIns="50800" bIns="50800" rtlCol="0" anchor="ctr"/>
          <a:lstStyle/>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Gender</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Age at enrollment</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Nationality</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Marital status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International student flag</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Displacement status</a:t>
            </a:r>
            <a:endParaRPr lang="en-US" sz="1000" dirty="0"/>
          </a:p>
        </p:txBody>
      </p:sp>
      <p:sp>
        <p:nvSpPr>
          <p:cNvPr id="20" name="Shape 18"/>
          <p:cNvSpPr/>
          <p:nvPr/>
        </p:nvSpPr>
        <p:spPr>
          <a:xfrm>
            <a:off x="3182112" y="1600200"/>
            <a:ext cx="2743200" cy="32918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1" name="Shape 19"/>
          <p:cNvSpPr/>
          <p:nvPr/>
        </p:nvSpPr>
        <p:spPr>
          <a:xfrm>
            <a:off x="3182112" y="1600200"/>
            <a:ext cx="2743200" cy="365760"/>
          </a:xfrm>
          <a:prstGeom prst="rect">
            <a:avLst/>
          </a:prstGeom>
          <a:solidFill>
            <a:srgbClr val="F4A535"/>
          </a:solidFill>
          <a:ln w="12700">
            <a:solidFill>
              <a:srgbClr val="F4A535"/>
            </a:solidFill>
            <a:prstDash val="solid"/>
          </a:ln>
        </p:spPr>
      </p:sp>
      <p:sp>
        <p:nvSpPr>
          <p:cNvPr id="22" name="Text 20"/>
          <p:cNvSpPr/>
          <p:nvPr/>
        </p:nvSpPr>
        <p:spPr>
          <a:xfrm>
            <a:off x="3182112" y="1600200"/>
            <a:ext cx="2743200" cy="365760"/>
          </a:xfrm>
          <a:prstGeom prst="rect">
            <a:avLst/>
          </a:prstGeom>
          <a:noFill/>
          <a:ln/>
        </p:spPr>
        <p:txBody>
          <a:bodyPr wrap="square" lIns="0" tIns="0" rIns="0" bIns="0" rtlCol="0" anchor="ctr"/>
          <a:lstStyle/>
          <a:p>
            <a:pPr marL="0" indent="0" algn="ctr">
              <a:buNone/>
            </a:pPr>
            <a:r>
              <a:rPr lang="en-US" sz="1100" b="1" dirty="0">
                <a:solidFill>
                  <a:srgbClr val="071221"/>
                </a:solidFill>
                <a:latin typeface="Calibri" pitchFamily="34" charset="0"/>
                <a:ea typeface="Calibri" pitchFamily="34" charset="-122"/>
                <a:cs typeface="Calibri" pitchFamily="34" charset="-120"/>
              </a:rPr>
              <a:t>Academic Features</a:t>
            </a:r>
            <a:endParaRPr lang="en-US" sz="1100" dirty="0"/>
          </a:p>
        </p:txBody>
      </p:sp>
      <p:sp>
        <p:nvSpPr>
          <p:cNvPr id="23" name="Text 21"/>
          <p:cNvSpPr/>
          <p:nvPr/>
        </p:nvSpPr>
        <p:spPr>
          <a:xfrm>
            <a:off x="3310128" y="2029968"/>
            <a:ext cx="2487168" cy="2743200"/>
          </a:xfrm>
          <a:prstGeom prst="rect">
            <a:avLst/>
          </a:prstGeom>
          <a:noFill/>
          <a:ln/>
        </p:spPr>
        <p:txBody>
          <a:bodyPr wrap="square" lIns="50800" tIns="50800" rIns="50800" bIns="50800" rtlCol="0" anchor="ctr"/>
          <a:lstStyle/>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Admission grade</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Previous qualification &amp; grade</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1st &amp; 2nd semester grades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Curricular units approved</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Units without evaluations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Daytime / evening attendance</a:t>
            </a:r>
            <a:endParaRPr lang="en-US" sz="1000" dirty="0"/>
          </a:p>
        </p:txBody>
      </p:sp>
      <p:sp>
        <p:nvSpPr>
          <p:cNvPr id="24" name="Shape 22"/>
          <p:cNvSpPr/>
          <p:nvPr/>
        </p:nvSpPr>
        <p:spPr>
          <a:xfrm>
            <a:off x="6089904" y="1600200"/>
            <a:ext cx="2743200" cy="32918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5" name="Shape 23"/>
          <p:cNvSpPr/>
          <p:nvPr/>
        </p:nvSpPr>
        <p:spPr>
          <a:xfrm>
            <a:off x="6089904" y="1600200"/>
            <a:ext cx="2743200" cy="365760"/>
          </a:xfrm>
          <a:prstGeom prst="rect">
            <a:avLst/>
          </a:prstGeom>
          <a:solidFill>
            <a:srgbClr val="1DE9B6"/>
          </a:solidFill>
          <a:ln w="12700">
            <a:solidFill>
              <a:srgbClr val="1DE9B6"/>
            </a:solidFill>
            <a:prstDash val="solid"/>
          </a:ln>
        </p:spPr>
      </p:sp>
      <p:sp>
        <p:nvSpPr>
          <p:cNvPr id="26" name="Text 24"/>
          <p:cNvSpPr/>
          <p:nvPr/>
        </p:nvSpPr>
        <p:spPr>
          <a:xfrm>
            <a:off x="6089904" y="1600200"/>
            <a:ext cx="2743200" cy="365760"/>
          </a:xfrm>
          <a:prstGeom prst="rect">
            <a:avLst/>
          </a:prstGeom>
          <a:noFill/>
          <a:ln/>
        </p:spPr>
        <p:txBody>
          <a:bodyPr wrap="square" lIns="0" tIns="0" rIns="0" bIns="0" rtlCol="0" anchor="ctr"/>
          <a:lstStyle/>
          <a:p>
            <a:pPr marL="0" indent="0" algn="ctr">
              <a:buNone/>
            </a:pPr>
            <a:r>
              <a:rPr lang="en-US" sz="1100" b="1" dirty="0">
                <a:solidFill>
                  <a:srgbClr val="071221"/>
                </a:solidFill>
                <a:latin typeface="Calibri" pitchFamily="34" charset="0"/>
                <a:ea typeface="Calibri" pitchFamily="34" charset="-122"/>
                <a:cs typeface="Calibri" pitchFamily="34" charset="-120"/>
              </a:rPr>
              <a:t>Socioeconomic Features</a:t>
            </a:r>
            <a:endParaRPr lang="en-US" sz="1100" dirty="0"/>
          </a:p>
        </p:txBody>
      </p:sp>
      <p:sp>
        <p:nvSpPr>
          <p:cNvPr id="27" name="Text 25"/>
          <p:cNvSpPr/>
          <p:nvPr/>
        </p:nvSpPr>
        <p:spPr>
          <a:xfrm>
            <a:off x="6217920" y="2029968"/>
            <a:ext cx="2487168" cy="2743200"/>
          </a:xfrm>
          <a:prstGeom prst="rect">
            <a:avLst/>
          </a:prstGeom>
          <a:noFill/>
          <a:ln/>
        </p:spPr>
        <p:txBody>
          <a:bodyPr wrap="square" lIns="50800" tIns="50800" rIns="50800" bIns="50800" rtlCol="0" anchor="ctr"/>
          <a:lstStyle/>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Tuition fees up to date</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Scholarship holder</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Debtor status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Mother's &amp; Father's occupation</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Unemployment rate</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Inflation rate · GDP</a:t>
            </a:r>
            <a:endParaRPr lang="en-US" sz="1000" dirty="0"/>
          </a:p>
        </p:txBody>
      </p:sp>
      <p:sp>
        <p:nvSpPr>
          <p:cNvPr id="28" name="Shape 26"/>
          <p:cNvSpPr/>
          <p:nvPr/>
        </p:nvSpPr>
        <p:spPr>
          <a:xfrm>
            <a:off x="274320" y="4956048"/>
            <a:ext cx="8595360" cy="164592"/>
          </a:xfrm>
          <a:prstGeom prst="rect">
            <a:avLst/>
          </a:prstGeom>
          <a:solidFill>
            <a:srgbClr val="071221"/>
          </a:solidFill>
          <a:ln w="12700">
            <a:solidFill>
              <a:srgbClr val="071221"/>
            </a:solidFill>
            <a:prstDash val="solid"/>
          </a:ln>
        </p:spPr>
      </p:sp>
      <p:sp>
        <p:nvSpPr>
          <p:cNvPr id="29" name="Text 27"/>
          <p:cNvSpPr/>
          <p:nvPr/>
        </p:nvSpPr>
        <p:spPr>
          <a:xfrm>
            <a:off x="320040" y="4956048"/>
            <a:ext cx="8503920" cy="164592"/>
          </a:xfrm>
          <a:prstGeom prst="rect">
            <a:avLst/>
          </a:prstGeom>
          <a:noFill/>
          <a:ln/>
        </p:spPr>
        <p:txBody>
          <a:bodyPr wrap="square" lIns="50800" tIns="50800" rIns="50800" bIns="50800" rtlCol="0" anchor="ctr"/>
          <a:lstStyle/>
          <a:p>
            <a:pPr marL="0" indent="0" algn="l">
              <a:buNone/>
            </a:pPr>
            <a:r>
              <a:rPr lang="en-US" sz="750" i="1" dirty="0">
                <a:solidFill>
                  <a:srgbClr val="7FA8C0"/>
                </a:solidFill>
                <a:latin typeface="Calibri" pitchFamily="34" charset="0"/>
                <a:ea typeface="Calibri" pitchFamily="34" charset="-122"/>
                <a:cs typeface="Calibri" pitchFamily="34" charset="-120"/>
              </a:rPr>
              <a:t>Realinho V. et al. (2022). Predicting Student Dropout and Academic Success. Data, 7(11), 146. https://doi.org/10.3390/data7110146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Preprocessing</a:t>
            </a:r>
            <a:endParaRPr lang="en-US" sz="1600" dirty="0"/>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indent="0">
              <a:buNone/>
            </a:pPr>
            <a:r>
              <a:rPr lang="en-US" sz="900" i="1" dirty="0">
                <a:solidFill>
                  <a:srgbClr val="1DE9B6"/>
                </a:solidFill>
                <a:latin typeface="Calibri" pitchFamily="34" charset="0"/>
                <a:ea typeface="Calibri" pitchFamily="34" charset="-122"/>
                <a:cs typeface="Calibri" pitchFamily="34" charset="-120"/>
              </a:rPr>
              <a:t>Pipeline steps applied before model training</a:t>
            </a:r>
            <a:endParaRPr lang="en-US" sz="900" dirty="0"/>
          </a:p>
        </p:txBody>
      </p:sp>
      <p:sp>
        <p:nvSpPr>
          <p:cNvPr id="5" name="Shape 3"/>
          <p:cNvSpPr/>
          <p:nvPr/>
        </p:nvSpPr>
        <p:spPr>
          <a:xfrm>
            <a:off x="274320" y="65836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Shape 4"/>
          <p:cNvSpPr/>
          <p:nvPr/>
        </p:nvSpPr>
        <p:spPr>
          <a:xfrm>
            <a:off x="274320" y="658368"/>
            <a:ext cx="64008" cy="1325880"/>
          </a:xfrm>
          <a:prstGeom prst="rect">
            <a:avLst/>
          </a:prstGeom>
          <a:solidFill>
            <a:srgbClr val="0D7C7C"/>
          </a:solidFill>
          <a:ln w="12700">
            <a:solidFill>
              <a:srgbClr val="0D7C7C"/>
            </a:solidFill>
            <a:prstDash val="solid"/>
          </a:ln>
        </p:spPr>
      </p:sp>
      <p:sp>
        <p:nvSpPr>
          <p:cNvPr id="7" name="Text 5"/>
          <p:cNvSpPr/>
          <p:nvPr/>
        </p:nvSpPr>
        <p:spPr>
          <a:xfrm>
            <a:off x="384048" y="1005840"/>
            <a:ext cx="502920" cy="457200"/>
          </a:xfrm>
          <a:prstGeom prst="rect">
            <a:avLst/>
          </a:prstGeom>
          <a:noFill/>
          <a:ln/>
        </p:spPr>
        <p:txBody>
          <a:bodyPr wrap="square" lIns="50800" tIns="50800" rIns="50800" bIns="50800" rtlCol="0" anchor="t"/>
          <a:lstStyle/>
          <a:p>
            <a:pPr marL="0" indent="0" algn="ctr">
              <a:buNone/>
            </a:pPr>
            <a:r>
              <a:rPr lang="en-US" sz="1800" b="1" dirty="0">
                <a:solidFill>
                  <a:srgbClr val="0D7C7C"/>
                </a:solidFill>
                <a:latin typeface="Calibri" pitchFamily="34" charset="0"/>
                <a:ea typeface="Calibri" pitchFamily="34" charset="-122"/>
                <a:cs typeface="Calibri" pitchFamily="34" charset="-120"/>
              </a:rPr>
              <a:t>01</a:t>
            </a:r>
            <a:endParaRPr lang="en-US" sz="1800" dirty="0"/>
          </a:p>
        </p:txBody>
      </p:sp>
      <p:sp>
        <p:nvSpPr>
          <p:cNvPr id="8" name="Shape 6"/>
          <p:cNvSpPr/>
          <p:nvPr/>
        </p:nvSpPr>
        <p:spPr>
          <a:xfrm>
            <a:off x="969264" y="749808"/>
            <a:ext cx="3291840" cy="9144"/>
          </a:xfrm>
          <a:prstGeom prst="rect">
            <a:avLst/>
          </a:prstGeom>
          <a:solidFill>
            <a:srgbClr val="162840"/>
          </a:solidFill>
          <a:ln w="12700">
            <a:solidFill>
              <a:srgbClr val="162840"/>
            </a:solidFill>
            <a:prstDash val="solid"/>
          </a:ln>
        </p:spPr>
      </p:sp>
      <p:sp>
        <p:nvSpPr>
          <p:cNvPr id="9" name="Text 7"/>
          <p:cNvSpPr/>
          <p:nvPr/>
        </p:nvSpPr>
        <p:spPr>
          <a:xfrm>
            <a:off x="1024128" y="749808"/>
            <a:ext cx="3246120" cy="320040"/>
          </a:xfrm>
          <a:prstGeom prst="rect">
            <a:avLst/>
          </a:prstGeom>
          <a:noFill/>
          <a:ln/>
        </p:spPr>
        <p:txBody>
          <a:bodyPr wrap="square" lIns="50800" tIns="50800" rIns="50800" bIns="50800" rtlCol="0" anchor="t"/>
          <a:lstStyle/>
          <a:p>
            <a:pPr marL="0" indent="0" algn="l">
              <a:buNone/>
            </a:pPr>
            <a:r>
              <a:rPr lang="en-US" sz="1150" b="1" dirty="0">
                <a:solidFill>
                  <a:srgbClr val="0D7C7C"/>
                </a:solidFill>
                <a:latin typeface="Calibri" pitchFamily="34" charset="0"/>
                <a:ea typeface="Calibri" pitchFamily="34" charset="-122"/>
                <a:cs typeface="Calibri" pitchFamily="34" charset="-120"/>
              </a:rPr>
              <a:t>Missing Value Audit</a:t>
            </a:r>
            <a:endParaRPr lang="en-US" sz="1150" dirty="0"/>
          </a:p>
        </p:txBody>
      </p:sp>
      <p:sp>
        <p:nvSpPr>
          <p:cNvPr id="10" name="Text 8"/>
          <p:cNvSpPr/>
          <p:nvPr/>
        </p:nvSpPr>
        <p:spPr>
          <a:xfrm>
            <a:off x="1024128" y="109728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All 37 features inspected zero null entries found across 4,424 records. No imputation was required.</a:t>
            </a:r>
            <a:endParaRPr lang="en-US" sz="1000" dirty="0"/>
          </a:p>
        </p:txBody>
      </p:sp>
      <p:sp>
        <p:nvSpPr>
          <p:cNvPr id="11" name="Shape 9"/>
          <p:cNvSpPr/>
          <p:nvPr/>
        </p:nvSpPr>
        <p:spPr>
          <a:xfrm>
            <a:off x="274320" y="212140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2" name="Shape 10"/>
          <p:cNvSpPr/>
          <p:nvPr/>
        </p:nvSpPr>
        <p:spPr>
          <a:xfrm>
            <a:off x="274320" y="2121408"/>
            <a:ext cx="64008" cy="1325880"/>
          </a:xfrm>
          <a:prstGeom prst="rect">
            <a:avLst/>
          </a:prstGeom>
          <a:solidFill>
            <a:srgbClr val="0D7C7C"/>
          </a:solidFill>
          <a:ln w="12700">
            <a:solidFill>
              <a:srgbClr val="0D7C7C"/>
            </a:solidFill>
            <a:prstDash val="solid"/>
          </a:ln>
        </p:spPr>
      </p:sp>
      <p:sp>
        <p:nvSpPr>
          <p:cNvPr id="13" name="Text 11"/>
          <p:cNvSpPr/>
          <p:nvPr/>
        </p:nvSpPr>
        <p:spPr>
          <a:xfrm>
            <a:off x="384048" y="2468880"/>
            <a:ext cx="502920" cy="457200"/>
          </a:xfrm>
          <a:prstGeom prst="rect">
            <a:avLst/>
          </a:prstGeom>
          <a:noFill/>
          <a:ln/>
        </p:spPr>
        <p:txBody>
          <a:bodyPr wrap="square" lIns="50800" tIns="50800" rIns="50800" bIns="50800" rtlCol="0" anchor="t"/>
          <a:lstStyle/>
          <a:p>
            <a:pPr marL="0" indent="0" algn="ctr">
              <a:buNone/>
            </a:pPr>
            <a:r>
              <a:rPr lang="en-US" sz="1800" b="1" dirty="0">
                <a:solidFill>
                  <a:srgbClr val="0D7C7C"/>
                </a:solidFill>
                <a:latin typeface="Calibri" pitchFamily="34" charset="0"/>
                <a:ea typeface="Calibri" pitchFamily="34" charset="-122"/>
                <a:cs typeface="Calibri" pitchFamily="34" charset="-120"/>
              </a:rPr>
              <a:t>02</a:t>
            </a:r>
            <a:endParaRPr lang="en-US" sz="1800" dirty="0"/>
          </a:p>
        </p:txBody>
      </p:sp>
      <p:sp>
        <p:nvSpPr>
          <p:cNvPr id="14" name="Shape 12"/>
          <p:cNvSpPr/>
          <p:nvPr/>
        </p:nvSpPr>
        <p:spPr>
          <a:xfrm>
            <a:off x="969264" y="2212848"/>
            <a:ext cx="3291840" cy="9144"/>
          </a:xfrm>
          <a:prstGeom prst="rect">
            <a:avLst/>
          </a:prstGeom>
          <a:solidFill>
            <a:srgbClr val="162840"/>
          </a:solidFill>
          <a:ln w="12700">
            <a:solidFill>
              <a:srgbClr val="162840"/>
            </a:solidFill>
            <a:prstDash val="solid"/>
          </a:ln>
        </p:spPr>
      </p:sp>
      <p:sp>
        <p:nvSpPr>
          <p:cNvPr id="15" name="Text 13"/>
          <p:cNvSpPr/>
          <p:nvPr/>
        </p:nvSpPr>
        <p:spPr>
          <a:xfrm>
            <a:off x="1024128" y="2212848"/>
            <a:ext cx="3246120" cy="320040"/>
          </a:xfrm>
          <a:prstGeom prst="rect">
            <a:avLst/>
          </a:prstGeom>
          <a:noFill/>
          <a:ln/>
        </p:spPr>
        <p:txBody>
          <a:bodyPr wrap="square" lIns="50800" tIns="50800" rIns="50800" bIns="50800" rtlCol="0" anchor="t"/>
          <a:lstStyle/>
          <a:p>
            <a:pPr marL="0" indent="0" algn="l">
              <a:buNone/>
            </a:pPr>
            <a:r>
              <a:rPr lang="en-US" sz="1150" b="1" dirty="0">
                <a:solidFill>
                  <a:srgbClr val="0D7C7C"/>
                </a:solidFill>
                <a:latin typeface="Calibri" pitchFamily="34" charset="0"/>
                <a:ea typeface="Calibri" pitchFamily="34" charset="-122"/>
                <a:cs typeface="Calibri" pitchFamily="34" charset="-120"/>
              </a:rPr>
              <a:t>Duplicate Detection</a:t>
            </a:r>
            <a:endParaRPr lang="en-US" sz="1150" dirty="0"/>
          </a:p>
        </p:txBody>
      </p:sp>
      <p:sp>
        <p:nvSpPr>
          <p:cNvPr id="16" name="Text 14"/>
          <p:cNvSpPr/>
          <p:nvPr/>
        </p:nvSpPr>
        <p:spPr>
          <a:xfrm>
            <a:off x="1024128" y="256032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Row-level deduplication confirmed every record is unique. No removal necessary.</a:t>
            </a:r>
            <a:endParaRPr lang="en-US" sz="1000" dirty="0"/>
          </a:p>
        </p:txBody>
      </p:sp>
      <p:sp>
        <p:nvSpPr>
          <p:cNvPr id="17" name="Shape 15"/>
          <p:cNvSpPr/>
          <p:nvPr/>
        </p:nvSpPr>
        <p:spPr>
          <a:xfrm>
            <a:off x="274320" y="358444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8" name="Shape 16"/>
          <p:cNvSpPr/>
          <p:nvPr/>
        </p:nvSpPr>
        <p:spPr>
          <a:xfrm>
            <a:off x="274320" y="3584448"/>
            <a:ext cx="64008" cy="1325880"/>
          </a:xfrm>
          <a:prstGeom prst="rect">
            <a:avLst/>
          </a:prstGeom>
          <a:solidFill>
            <a:srgbClr val="F4A535"/>
          </a:solidFill>
          <a:ln w="12700">
            <a:solidFill>
              <a:srgbClr val="F4A535"/>
            </a:solidFill>
            <a:prstDash val="solid"/>
          </a:ln>
        </p:spPr>
      </p:sp>
      <p:sp>
        <p:nvSpPr>
          <p:cNvPr id="19" name="Text 17"/>
          <p:cNvSpPr/>
          <p:nvPr/>
        </p:nvSpPr>
        <p:spPr>
          <a:xfrm>
            <a:off x="384048" y="3931920"/>
            <a:ext cx="502920" cy="457200"/>
          </a:xfrm>
          <a:prstGeom prst="rect">
            <a:avLst/>
          </a:prstGeom>
          <a:noFill/>
          <a:ln/>
        </p:spPr>
        <p:txBody>
          <a:bodyPr wrap="square" lIns="50800" tIns="50800" rIns="50800" bIns="50800" rtlCol="0" anchor="t"/>
          <a:lstStyle/>
          <a:p>
            <a:pPr marL="0" indent="0" algn="ctr">
              <a:buNone/>
            </a:pPr>
            <a:r>
              <a:rPr lang="en-US" sz="1800" b="1" dirty="0">
                <a:solidFill>
                  <a:srgbClr val="F4A535"/>
                </a:solidFill>
                <a:latin typeface="Calibri" pitchFamily="34" charset="0"/>
                <a:ea typeface="Calibri" pitchFamily="34" charset="-122"/>
                <a:cs typeface="Calibri" pitchFamily="34" charset="-120"/>
              </a:rPr>
              <a:t>03</a:t>
            </a:r>
            <a:endParaRPr lang="en-US" sz="1800" dirty="0"/>
          </a:p>
        </p:txBody>
      </p:sp>
      <p:sp>
        <p:nvSpPr>
          <p:cNvPr id="20" name="Shape 18"/>
          <p:cNvSpPr/>
          <p:nvPr/>
        </p:nvSpPr>
        <p:spPr>
          <a:xfrm>
            <a:off x="969264" y="3675888"/>
            <a:ext cx="3291840" cy="9144"/>
          </a:xfrm>
          <a:prstGeom prst="rect">
            <a:avLst/>
          </a:prstGeom>
          <a:solidFill>
            <a:srgbClr val="162840"/>
          </a:solidFill>
          <a:ln w="12700">
            <a:solidFill>
              <a:srgbClr val="162840"/>
            </a:solidFill>
            <a:prstDash val="solid"/>
          </a:ln>
        </p:spPr>
      </p:sp>
      <p:sp>
        <p:nvSpPr>
          <p:cNvPr id="21" name="Text 19"/>
          <p:cNvSpPr/>
          <p:nvPr/>
        </p:nvSpPr>
        <p:spPr>
          <a:xfrm>
            <a:off x="1024128" y="3675888"/>
            <a:ext cx="3246120" cy="320040"/>
          </a:xfrm>
          <a:prstGeom prst="rect">
            <a:avLst/>
          </a:prstGeom>
          <a:noFill/>
          <a:ln/>
        </p:spPr>
        <p:txBody>
          <a:bodyPr wrap="square" lIns="50800" tIns="50800" rIns="50800" bIns="50800" rtlCol="0" anchor="t"/>
          <a:lstStyle/>
          <a:p>
            <a:pPr marL="0" indent="0" algn="l">
              <a:buNone/>
            </a:pPr>
            <a:r>
              <a:rPr lang="en-US" sz="1150" b="1" dirty="0">
                <a:solidFill>
                  <a:srgbClr val="F4A535"/>
                </a:solidFill>
                <a:latin typeface="Calibri" pitchFamily="34" charset="0"/>
                <a:ea typeface="Calibri" pitchFamily="34" charset="-122"/>
                <a:cs typeface="Calibri" pitchFamily="34" charset="-120"/>
              </a:rPr>
              <a:t>Target Binarisation</a:t>
            </a:r>
            <a:endParaRPr lang="en-US" sz="1150" dirty="0"/>
          </a:p>
        </p:txBody>
      </p:sp>
      <p:sp>
        <p:nvSpPr>
          <p:cNvPr id="22" name="Text 20"/>
          <p:cNvSpPr/>
          <p:nvPr/>
        </p:nvSpPr>
        <p:spPr>
          <a:xfrm>
            <a:off x="1024128" y="402336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Original 3-class label (Dropout / Enrolled / Graduate) collapsed to binary: 1 = Dropout, 0 = Non-Dropout.</a:t>
            </a:r>
            <a:endParaRPr lang="en-US" sz="1000" dirty="0"/>
          </a:p>
        </p:txBody>
      </p:sp>
      <p:sp>
        <p:nvSpPr>
          <p:cNvPr id="23" name="Shape 21"/>
          <p:cNvSpPr/>
          <p:nvPr/>
        </p:nvSpPr>
        <p:spPr>
          <a:xfrm>
            <a:off x="4681728" y="65836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4" name="Shape 22"/>
          <p:cNvSpPr/>
          <p:nvPr/>
        </p:nvSpPr>
        <p:spPr>
          <a:xfrm>
            <a:off x="4681728" y="658368"/>
            <a:ext cx="64008" cy="1325880"/>
          </a:xfrm>
          <a:prstGeom prst="rect">
            <a:avLst/>
          </a:prstGeom>
          <a:solidFill>
            <a:srgbClr val="F4A535"/>
          </a:solidFill>
          <a:ln w="12700">
            <a:solidFill>
              <a:srgbClr val="F4A535"/>
            </a:solidFill>
            <a:prstDash val="solid"/>
          </a:ln>
        </p:spPr>
      </p:sp>
      <p:sp>
        <p:nvSpPr>
          <p:cNvPr id="25" name="Text 23"/>
          <p:cNvSpPr/>
          <p:nvPr/>
        </p:nvSpPr>
        <p:spPr>
          <a:xfrm>
            <a:off x="4791456" y="1005840"/>
            <a:ext cx="502920" cy="457200"/>
          </a:xfrm>
          <a:prstGeom prst="rect">
            <a:avLst/>
          </a:prstGeom>
          <a:noFill/>
          <a:ln/>
        </p:spPr>
        <p:txBody>
          <a:bodyPr wrap="square" lIns="50800" tIns="50800" rIns="50800" bIns="50800" rtlCol="0" anchor="t"/>
          <a:lstStyle/>
          <a:p>
            <a:pPr marL="0" indent="0" algn="ctr">
              <a:buNone/>
            </a:pPr>
            <a:r>
              <a:rPr lang="en-US" sz="1800" b="1" dirty="0">
                <a:solidFill>
                  <a:srgbClr val="F4A535"/>
                </a:solidFill>
                <a:latin typeface="Calibri" pitchFamily="34" charset="0"/>
                <a:ea typeface="Calibri" pitchFamily="34" charset="-122"/>
                <a:cs typeface="Calibri" pitchFamily="34" charset="-120"/>
              </a:rPr>
              <a:t>04</a:t>
            </a:r>
            <a:endParaRPr lang="en-US" sz="1800" dirty="0"/>
          </a:p>
        </p:txBody>
      </p:sp>
      <p:sp>
        <p:nvSpPr>
          <p:cNvPr id="26" name="Shape 24"/>
          <p:cNvSpPr/>
          <p:nvPr/>
        </p:nvSpPr>
        <p:spPr>
          <a:xfrm>
            <a:off x="5376672" y="749808"/>
            <a:ext cx="3291840" cy="9144"/>
          </a:xfrm>
          <a:prstGeom prst="rect">
            <a:avLst/>
          </a:prstGeom>
          <a:solidFill>
            <a:srgbClr val="162840"/>
          </a:solidFill>
          <a:ln w="12700">
            <a:solidFill>
              <a:srgbClr val="162840"/>
            </a:solidFill>
            <a:prstDash val="solid"/>
          </a:ln>
        </p:spPr>
      </p:sp>
      <p:sp>
        <p:nvSpPr>
          <p:cNvPr id="27" name="Text 25"/>
          <p:cNvSpPr/>
          <p:nvPr/>
        </p:nvSpPr>
        <p:spPr>
          <a:xfrm>
            <a:off x="5431536" y="749808"/>
            <a:ext cx="3246120" cy="320040"/>
          </a:xfrm>
          <a:prstGeom prst="rect">
            <a:avLst/>
          </a:prstGeom>
          <a:noFill/>
          <a:ln/>
        </p:spPr>
        <p:txBody>
          <a:bodyPr wrap="square" lIns="50800" tIns="50800" rIns="50800" bIns="50800" rtlCol="0" anchor="t"/>
          <a:lstStyle/>
          <a:p>
            <a:pPr marL="0" indent="0" algn="l">
              <a:buNone/>
            </a:pPr>
            <a:r>
              <a:rPr lang="en-US" sz="1150" b="1" dirty="0">
                <a:solidFill>
                  <a:srgbClr val="F4A535"/>
                </a:solidFill>
                <a:latin typeface="Calibri" pitchFamily="34" charset="0"/>
                <a:ea typeface="Calibri" pitchFamily="34" charset="-122"/>
                <a:cs typeface="Calibri" pitchFamily="34" charset="-120"/>
              </a:rPr>
              <a:t>Outlier Analysis</a:t>
            </a:r>
            <a:endParaRPr lang="en-US" sz="1150" dirty="0"/>
          </a:p>
        </p:txBody>
      </p:sp>
      <p:sp>
        <p:nvSpPr>
          <p:cNvPr id="28" name="Text 26"/>
          <p:cNvSpPr/>
          <p:nvPr/>
        </p:nvSpPr>
        <p:spPr>
          <a:xfrm>
            <a:off x="5431536" y="109728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Boxplot analysis flagged high admission grades and older enrollment ages. All were verified as genuine student profiles retained to preserve predictive signal.</a:t>
            </a:r>
            <a:endParaRPr lang="en-US" sz="1000" dirty="0"/>
          </a:p>
        </p:txBody>
      </p:sp>
      <p:sp>
        <p:nvSpPr>
          <p:cNvPr id="29" name="Shape 27"/>
          <p:cNvSpPr/>
          <p:nvPr/>
        </p:nvSpPr>
        <p:spPr>
          <a:xfrm>
            <a:off x="4681728" y="212140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30" name="Shape 28"/>
          <p:cNvSpPr/>
          <p:nvPr/>
        </p:nvSpPr>
        <p:spPr>
          <a:xfrm>
            <a:off x="4681728" y="2121408"/>
            <a:ext cx="64008" cy="1325880"/>
          </a:xfrm>
          <a:prstGeom prst="rect">
            <a:avLst/>
          </a:prstGeom>
          <a:solidFill>
            <a:srgbClr val="1DE9B6"/>
          </a:solidFill>
          <a:ln w="12700">
            <a:solidFill>
              <a:srgbClr val="1DE9B6"/>
            </a:solidFill>
            <a:prstDash val="solid"/>
          </a:ln>
        </p:spPr>
      </p:sp>
      <p:sp>
        <p:nvSpPr>
          <p:cNvPr id="31" name="Text 29"/>
          <p:cNvSpPr/>
          <p:nvPr/>
        </p:nvSpPr>
        <p:spPr>
          <a:xfrm>
            <a:off x="4791456" y="2468880"/>
            <a:ext cx="502920" cy="457200"/>
          </a:xfrm>
          <a:prstGeom prst="rect">
            <a:avLst/>
          </a:prstGeom>
          <a:noFill/>
          <a:ln/>
        </p:spPr>
        <p:txBody>
          <a:bodyPr wrap="square" lIns="50800" tIns="50800" rIns="50800" bIns="50800" rtlCol="0" anchor="t"/>
          <a:lstStyle/>
          <a:p>
            <a:pPr marL="0" indent="0" algn="ctr">
              <a:buNone/>
            </a:pPr>
            <a:r>
              <a:rPr lang="en-US" sz="1800" b="1" dirty="0">
                <a:solidFill>
                  <a:srgbClr val="1DE9B6"/>
                </a:solidFill>
                <a:latin typeface="Calibri" pitchFamily="34" charset="0"/>
                <a:ea typeface="Calibri" pitchFamily="34" charset="-122"/>
                <a:cs typeface="Calibri" pitchFamily="34" charset="-120"/>
              </a:rPr>
              <a:t>05</a:t>
            </a:r>
            <a:endParaRPr lang="en-US" sz="1800" dirty="0"/>
          </a:p>
        </p:txBody>
      </p:sp>
      <p:sp>
        <p:nvSpPr>
          <p:cNvPr id="32" name="Shape 30"/>
          <p:cNvSpPr/>
          <p:nvPr/>
        </p:nvSpPr>
        <p:spPr>
          <a:xfrm>
            <a:off x="5376672" y="2212848"/>
            <a:ext cx="3291840" cy="9144"/>
          </a:xfrm>
          <a:prstGeom prst="rect">
            <a:avLst/>
          </a:prstGeom>
          <a:solidFill>
            <a:srgbClr val="162840"/>
          </a:solidFill>
          <a:ln w="12700">
            <a:solidFill>
              <a:srgbClr val="162840"/>
            </a:solidFill>
            <a:prstDash val="solid"/>
          </a:ln>
        </p:spPr>
      </p:sp>
      <p:sp>
        <p:nvSpPr>
          <p:cNvPr id="33" name="Text 31"/>
          <p:cNvSpPr/>
          <p:nvPr/>
        </p:nvSpPr>
        <p:spPr>
          <a:xfrm>
            <a:off x="5431536" y="2212848"/>
            <a:ext cx="3246120" cy="320040"/>
          </a:xfrm>
          <a:prstGeom prst="rect">
            <a:avLst/>
          </a:prstGeom>
          <a:noFill/>
          <a:ln/>
        </p:spPr>
        <p:txBody>
          <a:bodyPr wrap="square" lIns="50800" tIns="50800" rIns="50800" bIns="50800" rtlCol="0" anchor="t"/>
          <a:lstStyle/>
          <a:p>
            <a:pPr marL="0" indent="0" algn="l">
              <a:buNone/>
            </a:pPr>
            <a:r>
              <a:rPr lang="en-US" sz="1150" b="1" dirty="0">
                <a:solidFill>
                  <a:srgbClr val="1DE9B6"/>
                </a:solidFill>
                <a:latin typeface="Calibri" pitchFamily="34" charset="0"/>
                <a:ea typeface="Calibri" pitchFamily="34" charset="-122"/>
                <a:cs typeface="Calibri" pitchFamily="34" charset="-120"/>
              </a:rPr>
              <a:t>Stratified 80/20 Split</a:t>
            </a:r>
            <a:endParaRPr lang="en-US" sz="1150" dirty="0"/>
          </a:p>
        </p:txBody>
      </p:sp>
      <p:sp>
        <p:nvSpPr>
          <p:cNvPr id="34" name="Text 32"/>
          <p:cNvSpPr/>
          <p:nvPr/>
        </p:nvSpPr>
        <p:spPr>
          <a:xfrm>
            <a:off x="5431536" y="256032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Train and test sets produced with stratification to preserve the 32:68 class ratio in both partitions.</a:t>
            </a:r>
            <a:endParaRPr lang="en-US" sz="1000" dirty="0"/>
          </a:p>
        </p:txBody>
      </p:sp>
      <p:sp>
        <p:nvSpPr>
          <p:cNvPr id="35" name="Shape 33"/>
          <p:cNvSpPr/>
          <p:nvPr/>
        </p:nvSpPr>
        <p:spPr>
          <a:xfrm>
            <a:off x="4681728" y="3584448"/>
            <a:ext cx="4160520" cy="13258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36" name="Shape 34"/>
          <p:cNvSpPr/>
          <p:nvPr/>
        </p:nvSpPr>
        <p:spPr>
          <a:xfrm>
            <a:off x="4681728" y="3584448"/>
            <a:ext cx="64008" cy="1325880"/>
          </a:xfrm>
          <a:prstGeom prst="rect">
            <a:avLst/>
          </a:prstGeom>
          <a:solidFill>
            <a:srgbClr val="1DE9B6"/>
          </a:solidFill>
          <a:ln w="12700">
            <a:solidFill>
              <a:srgbClr val="1DE9B6"/>
            </a:solidFill>
            <a:prstDash val="solid"/>
          </a:ln>
        </p:spPr>
      </p:sp>
      <p:sp>
        <p:nvSpPr>
          <p:cNvPr id="37" name="Text 35"/>
          <p:cNvSpPr/>
          <p:nvPr/>
        </p:nvSpPr>
        <p:spPr>
          <a:xfrm>
            <a:off x="4791456" y="3931920"/>
            <a:ext cx="502920" cy="457200"/>
          </a:xfrm>
          <a:prstGeom prst="rect">
            <a:avLst/>
          </a:prstGeom>
          <a:noFill/>
          <a:ln/>
        </p:spPr>
        <p:txBody>
          <a:bodyPr wrap="square" lIns="50800" tIns="50800" rIns="50800" bIns="50800" rtlCol="0" anchor="t"/>
          <a:lstStyle/>
          <a:p>
            <a:pPr marL="0" indent="0" algn="ctr">
              <a:buNone/>
            </a:pPr>
            <a:r>
              <a:rPr lang="en-US" sz="1800" b="1" dirty="0">
                <a:solidFill>
                  <a:srgbClr val="1DE9B6"/>
                </a:solidFill>
                <a:latin typeface="Calibri" pitchFamily="34" charset="0"/>
                <a:ea typeface="Calibri" pitchFamily="34" charset="-122"/>
                <a:cs typeface="Calibri" pitchFamily="34" charset="-120"/>
              </a:rPr>
              <a:t>06</a:t>
            </a:r>
            <a:endParaRPr lang="en-US" sz="1800" dirty="0"/>
          </a:p>
        </p:txBody>
      </p:sp>
      <p:sp>
        <p:nvSpPr>
          <p:cNvPr id="38" name="Shape 36"/>
          <p:cNvSpPr/>
          <p:nvPr/>
        </p:nvSpPr>
        <p:spPr>
          <a:xfrm>
            <a:off x="5376672" y="3675888"/>
            <a:ext cx="3291840" cy="9144"/>
          </a:xfrm>
          <a:prstGeom prst="rect">
            <a:avLst/>
          </a:prstGeom>
          <a:solidFill>
            <a:srgbClr val="162840"/>
          </a:solidFill>
          <a:ln w="12700">
            <a:solidFill>
              <a:srgbClr val="162840"/>
            </a:solidFill>
            <a:prstDash val="solid"/>
          </a:ln>
        </p:spPr>
      </p:sp>
      <p:sp>
        <p:nvSpPr>
          <p:cNvPr id="39" name="Text 37"/>
          <p:cNvSpPr/>
          <p:nvPr/>
        </p:nvSpPr>
        <p:spPr>
          <a:xfrm>
            <a:off x="5431536" y="3675888"/>
            <a:ext cx="3246120" cy="320040"/>
          </a:xfrm>
          <a:prstGeom prst="rect">
            <a:avLst/>
          </a:prstGeom>
          <a:noFill/>
          <a:ln/>
        </p:spPr>
        <p:txBody>
          <a:bodyPr wrap="square" lIns="50800" tIns="50800" rIns="50800" bIns="50800" rtlCol="0" anchor="t"/>
          <a:lstStyle/>
          <a:p>
            <a:pPr marL="0" indent="0" algn="l">
              <a:buNone/>
            </a:pPr>
            <a:r>
              <a:rPr lang="en-US" sz="1150" b="1" dirty="0">
                <a:solidFill>
                  <a:srgbClr val="1DE9B6"/>
                </a:solidFill>
                <a:latin typeface="Calibri" pitchFamily="34" charset="0"/>
                <a:ea typeface="Calibri" pitchFamily="34" charset="-122"/>
                <a:cs typeface="Calibri" pitchFamily="34" charset="-120"/>
              </a:rPr>
              <a:t>StandardScaler</a:t>
            </a:r>
            <a:endParaRPr lang="en-US" sz="1150" dirty="0"/>
          </a:p>
        </p:txBody>
      </p:sp>
      <p:sp>
        <p:nvSpPr>
          <p:cNvPr id="40" name="Text 38"/>
          <p:cNvSpPr/>
          <p:nvPr/>
        </p:nvSpPr>
        <p:spPr>
          <a:xfrm>
            <a:off x="5431536" y="4023360"/>
            <a:ext cx="3246120" cy="804672"/>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Zero-mean, unit-variance scaling applied post-split. Critical for Logistic Regression and SVM; applied uniformly across all models.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Exploratory Data Analysis Key Patterns Before Modelling</a:t>
            </a:r>
            <a:endParaRPr lang="en-US" sz="1600" dirty="0"/>
          </a:p>
        </p:txBody>
      </p:sp>
      <p:sp>
        <p:nvSpPr>
          <p:cNvPr id="4" name="Shape 2"/>
          <p:cNvSpPr/>
          <p:nvPr/>
        </p:nvSpPr>
        <p:spPr>
          <a:xfrm>
            <a:off x="228600" y="594360"/>
            <a:ext cx="4251960" cy="2167128"/>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pic>
        <p:nvPicPr>
          <p:cNvPr id="5" name="Image 0" descr="preencoded.png"/>
          <p:cNvPicPr>
            <a:picLocks noChangeAspect="1"/>
          </p:cNvPicPr>
          <p:nvPr/>
        </p:nvPicPr>
        <p:blipFill>
          <a:blip r:embed="rId3"/>
          <a:srcRect/>
          <a:stretch/>
        </p:blipFill>
        <p:spPr>
          <a:xfrm>
            <a:off x="292608" y="649224"/>
            <a:ext cx="4123944" cy="1847088"/>
          </a:xfrm>
          <a:prstGeom prst="rect">
            <a:avLst/>
          </a:prstGeom>
        </p:spPr>
      </p:pic>
      <p:sp>
        <p:nvSpPr>
          <p:cNvPr id="6" name="Text 3"/>
          <p:cNvSpPr/>
          <p:nvPr/>
        </p:nvSpPr>
        <p:spPr>
          <a:xfrm>
            <a:off x="292608" y="2514600"/>
            <a:ext cx="4123944" cy="246888"/>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Fig 2: Correlation heatmap semester-grade variables are tightly intercorrelated; tuition fees show strong negative correlation with dropout target.</a:t>
            </a:r>
            <a:endParaRPr lang="en-US" sz="600" dirty="0"/>
          </a:p>
        </p:txBody>
      </p:sp>
      <p:sp>
        <p:nvSpPr>
          <p:cNvPr id="7" name="Shape 4"/>
          <p:cNvSpPr/>
          <p:nvPr/>
        </p:nvSpPr>
        <p:spPr>
          <a:xfrm>
            <a:off x="4681728" y="594360"/>
            <a:ext cx="4251960" cy="2167128"/>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pic>
        <p:nvPicPr>
          <p:cNvPr id="8" name="Image 1" descr="preencoded.png"/>
          <p:cNvPicPr>
            <a:picLocks noChangeAspect="1"/>
          </p:cNvPicPr>
          <p:nvPr/>
        </p:nvPicPr>
        <p:blipFill>
          <a:blip r:embed="rId4"/>
          <a:srcRect/>
          <a:stretch/>
        </p:blipFill>
        <p:spPr>
          <a:xfrm>
            <a:off x="4745736" y="649224"/>
            <a:ext cx="4123944" cy="1847088"/>
          </a:xfrm>
          <a:prstGeom prst="rect">
            <a:avLst/>
          </a:prstGeom>
        </p:spPr>
      </p:pic>
      <p:sp>
        <p:nvSpPr>
          <p:cNvPr id="9" name="Text 5"/>
          <p:cNvSpPr/>
          <p:nvPr/>
        </p:nvSpPr>
        <p:spPr>
          <a:xfrm>
            <a:off x="4745736" y="2514600"/>
            <a:ext cx="4123944" cy="246888"/>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Fig 3: Tuition fee status vs dropout  87% of students with unpaid fees eventually drop out; a near-binary signal.</a:t>
            </a:r>
            <a:endParaRPr lang="en-US" sz="600" dirty="0"/>
          </a:p>
        </p:txBody>
      </p:sp>
      <p:sp>
        <p:nvSpPr>
          <p:cNvPr id="10" name="Shape 6"/>
          <p:cNvSpPr/>
          <p:nvPr/>
        </p:nvSpPr>
        <p:spPr>
          <a:xfrm>
            <a:off x="228600" y="2852928"/>
            <a:ext cx="4251960" cy="2167128"/>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pic>
        <p:nvPicPr>
          <p:cNvPr id="11" name="Image 2" descr="preencoded.png"/>
          <p:cNvPicPr>
            <a:picLocks noChangeAspect="1"/>
          </p:cNvPicPr>
          <p:nvPr/>
        </p:nvPicPr>
        <p:blipFill>
          <a:blip r:embed="rId5"/>
          <a:srcRect/>
          <a:stretch/>
        </p:blipFill>
        <p:spPr>
          <a:xfrm>
            <a:off x="292608" y="2907792"/>
            <a:ext cx="4123944" cy="1847088"/>
          </a:xfrm>
          <a:prstGeom prst="rect">
            <a:avLst/>
          </a:prstGeom>
        </p:spPr>
      </p:pic>
      <p:sp>
        <p:nvSpPr>
          <p:cNvPr id="12" name="Text 7"/>
          <p:cNvSpPr/>
          <p:nvPr/>
        </p:nvSpPr>
        <p:spPr>
          <a:xfrm>
            <a:off x="292608" y="4773168"/>
            <a:ext cx="4123944" cy="246888"/>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Fig 4: Age at enrollment vs dropout  </a:t>
            </a:r>
            <a:r>
              <a:rPr lang="en-US" sz="600" i="1" dirty="0" err="1">
                <a:solidFill>
                  <a:srgbClr val="7FA8C0"/>
                </a:solidFill>
                <a:latin typeface="Calibri" pitchFamily="34" charset="0"/>
                <a:ea typeface="Calibri" pitchFamily="34" charset="-122"/>
                <a:cs typeface="Calibri" pitchFamily="34" charset="-120"/>
              </a:rPr>
              <a:t>dropout</a:t>
            </a:r>
            <a:r>
              <a:rPr lang="en-US" sz="600" i="1" dirty="0">
                <a:solidFill>
                  <a:srgbClr val="7FA8C0"/>
                </a:solidFill>
                <a:latin typeface="Calibri" pitchFamily="34" charset="0"/>
                <a:ea typeface="Calibri" pitchFamily="34" charset="-122"/>
                <a:cs typeface="Calibri" pitchFamily="34" charset="-120"/>
              </a:rPr>
              <a:t> students have a wider, higher-centred age distribution; median ~3 years older.</a:t>
            </a:r>
            <a:endParaRPr lang="en-US" sz="600" dirty="0"/>
          </a:p>
        </p:txBody>
      </p:sp>
      <p:sp>
        <p:nvSpPr>
          <p:cNvPr id="13" name="Shape 8"/>
          <p:cNvSpPr/>
          <p:nvPr/>
        </p:nvSpPr>
        <p:spPr>
          <a:xfrm>
            <a:off x="4681728" y="2852928"/>
            <a:ext cx="4251960" cy="2167128"/>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pic>
        <p:nvPicPr>
          <p:cNvPr id="14" name="Image 3" descr="preencoded.png"/>
          <p:cNvPicPr>
            <a:picLocks noChangeAspect="1"/>
          </p:cNvPicPr>
          <p:nvPr/>
        </p:nvPicPr>
        <p:blipFill>
          <a:blip r:embed="rId6"/>
          <a:srcRect/>
          <a:stretch/>
        </p:blipFill>
        <p:spPr>
          <a:xfrm>
            <a:off x="4745736" y="2907792"/>
            <a:ext cx="4123944" cy="1847088"/>
          </a:xfrm>
          <a:prstGeom prst="rect">
            <a:avLst/>
          </a:prstGeom>
        </p:spPr>
      </p:pic>
      <p:sp>
        <p:nvSpPr>
          <p:cNvPr id="15" name="Text 9"/>
          <p:cNvSpPr/>
          <p:nvPr/>
        </p:nvSpPr>
        <p:spPr>
          <a:xfrm>
            <a:off x="4745736" y="4773168"/>
            <a:ext cx="4123944" cy="246888"/>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Fig 5: 1st semester grade vs dropout  dropout group shows markedly lower grades and far greater variance across the IQR.</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Feature Engineering &amp; Selection Signals, Importances &amp; Dimensionality</a:t>
            </a:r>
            <a:endParaRPr lang="en-US" sz="1600" dirty="0"/>
          </a:p>
        </p:txBody>
      </p:sp>
      <p:sp>
        <p:nvSpPr>
          <p:cNvPr id="4" name="Shape 2"/>
          <p:cNvSpPr/>
          <p:nvPr/>
        </p:nvSpPr>
        <p:spPr>
          <a:xfrm>
            <a:off x="274320" y="594360"/>
            <a:ext cx="4160520" cy="15544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5" name="Shape 3"/>
          <p:cNvSpPr/>
          <p:nvPr/>
        </p:nvSpPr>
        <p:spPr>
          <a:xfrm>
            <a:off x="274320" y="594360"/>
            <a:ext cx="64008" cy="1554480"/>
          </a:xfrm>
          <a:prstGeom prst="rect">
            <a:avLst/>
          </a:prstGeom>
          <a:solidFill>
            <a:srgbClr val="F4A535"/>
          </a:solidFill>
          <a:ln w="12700">
            <a:solidFill>
              <a:srgbClr val="F4A535"/>
            </a:solidFill>
            <a:prstDash val="solid"/>
          </a:ln>
        </p:spPr>
      </p:sp>
      <p:sp>
        <p:nvSpPr>
          <p:cNvPr id="6" name="Text 4"/>
          <p:cNvSpPr/>
          <p:nvPr/>
        </p:nvSpPr>
        <p:spPr>
          <a:xfrm>
            <a:off x="475488" y="685800"/>
            <a:ext cx="3749040" cy="320040"/>
          </a:xfrm>
          <a:prstGeom prst="rect">
            <a:avLst/>
          </a:prstGeom>
          <a:noFill/>
          <a:ln/>
        </p:spPr>
        <p:txBody>
          <a:bodyPr wrap="square" lIns="50800" tIns="50800" rIns="50800" bIns="50800" rtlCol="0" anchor="t"/>
          <a:lstStyle/>
          <a:p>
            <a:pPr marL="0" indent="0" algn="l">
              <a:buNone/>
            </a:pPr>
            <a:r>
              <a:rPr lang="en-US" sz="1200" b="1" dirty="0">
                <a:solidFill>
                  <a:srgbClr val="F4A535"/>
                </a:solidFill>
                <a:latin typeface="Calibri" pitchFamily="34" charset="0"/>
                <a:ea typeface="Calibri" pitchFamily="34" charset="-122"/>
                <a:cs typeface="Calibri" pitchFamily="34" charset="-120"/>
              </a:rPr>
              <a:t>Engineered: Academic_Performance</a:t>
            </a:r>
            <a:endParaRPr lang="en-US" sz="1200" dirty="0"/>
          </a:p>
        </p:txBody>
      </p:sp>
      <p:sp>
        <p:nvSpPr>
          <p:cNvPr id="7" name="Text 5"/>
          <p:cNvSpPr/>
          <p:nvPr/>
        </p:nvSpPr>
        <p:spPr>
          <a:xfrm>
            <a:off x="475488" y="1024128"/>
            <a:ext cx="3749040" cy="868680"/>
          </a:xfrm>
          <a:prstGeom prst="rect">
            <a:avLst/>
          </a:prstGeom>
          <a:noFill/>
          <a:ln/>
        </p:spPr>
        <p:txBody>
          <a:bodyPr wrap="square" lIns="50800" tIns="50800" rIns="50800" bIns="50800" rtlCol="0" anchor="t"/>
          <a:lstStyle/>
          <a:p>
            <a:pPr marL="0" indent="0" algn="l">
              <a:buNone/>
            </a:pPr>
            <a:r>
              <a:rPr lang="en-US" sz="1000" dirty="0">
                <a:solidFill>
                  <a:srgbClr val="D6EAF8"/>
                </a:solidFill>
                <a:latin typeface="Calibri" pitchFamily="34" charset="0"/>
                <a:ea typeface="Calibri" pitchFamily="34" charset="-122"/>
                <a:cs typeface="Calibri" pitchFamily="34" charset="-120"/>
              </a:rPr>
              <a:t>Average of 1st and 2nd semester grades combined into a single composite score. Captures sustained academic trajectory more faithfully than either semester alone as confirmed by the sharper class separation below.</a:t>
            </a:r>
            <a:endParaRPr lang="en-US" sz="1000" dirty="0"/>
          </a:p>
        </p:txBody>
      </p:sp>
      <p:sp>
        <p:nvSpPr>
          <p:cNvPr id="8" name="Shape 6"/>
          <p:cNvSpPr/>
          <p:nvPr/>
        </p:nvSpPr>
        <p:spPr>
          <a:xfrm>
            <a:off x="274320" y="2240280"/>
            <a:ext cx="4160520" cy="18288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9" name="Text 7"/>
          <p:cNvSpPr/>
          <p:nvPr/>
        </p:nvSpPr>
        <p:spPr>
          <a:xfrm>
            <a:off x="365760" y="2267712"/>
            <a:ext cx="3977640" cy="256032"/>
          </a:xfrm>
          <a:prstGeom prst="rect">
            <a:avLst/>
          </a:prstGeom>
          <a:noFill/>
          <a:ln/>
        </p:spPr>
        <p:txBody>
          <a:bodyPr wrap="square" lIns="50800" tIns="50800" rIns="50800" bIns="50800" rtlCol="0" anchor="t"/>
          <a:lstStyle/>
          <a:p>
            <a:pPr marL="0" indent="0" algn="l">
              <a:buNone/>
            </a:pPr>
            <a:r>
              <a:rPr lang="en-US" sz="1000" b="1" dirty="0">
                <a:solidFill>
                  <a:srgbClr val="1DE9B6"/>
                </a:solidFill>
                <a:latin typeface="Calibri" pitchFamily="34" charset="0"/>
                <a:ea typeface="Calibri" pitchFamily="34" charset="-122"/>
                <a:cs typeface="Calibri" pitchFamily="34" charset="-120"/>
              </a:rPr>
              <a:t>Fig 6: Academic_Performance vs Dropout Risk</a:t>
            </a:r>
            <a:endParaRPr lang="en-US" sz="1000" dirty="0"/>
          </a:p>
        </p:txBody>
      </p:sp>
      <p:pic>
        <p:nvPicPr>
          <p:cNvPr id="10" name="Image 0" descr="preencoded.png"/>
          <p:cNvPicPr>
            <a:picLocks noChangeAspect="1"/>
          </p:cNvPicPr>
          <p:nvPr/>
        </p:nvPicPr>
        <p:blipFill>
          <a:blip r:embed="rId3"/>
          <a:srcRect/>
          <a:stretch/>
        </p:blipFill>
        <p:spPr>
          <a:xfrm>
            <a:off x="347472" y="2542032"/>
            <a:ext cx="4014216" cy="1453896"/>
          </a:xfrm>
          <a:prstGeom prst="rect">
            <a:avLst/>
          </a:prstGeom>
        </p:spPr>
      </p:pic>
      <p:sp>
        <p:nvSpPr>
          <p:cNvPr id="11" name="Shape 8"/>
          <p:cNvSpPr/>
          <p:nvPr/>
        </p:nvSpPr>
        <p:spPr>
          <a:xfrm>
            <a:off x="4663440" y="594360"/>
            <a:ext cx="4206240" cy="26974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2" name="Shape 9"/>
          <p:cNvSpPr/>
          <p:nvPr/>
        </p:nvSpPr>
        <p:spPr>
          <a:xfrm>
            <a:off x="4663440" y="594360"/>
            <a:ext cx="4206240" cy="347472"/>
          </a:xfrm>
          <a:prstGeom prst="rect">
            <a:avLst/>
          </a:prstGeom>
          <a:solidFill>
            <a:srgbClr val="0D7C7C"/>
          </a:solidFill>
          <a:ln w="12700">
            <a:solidFill>
              <a:srgbClr val="0D7C7C"/>
            </a:solidFill>
            <a:prstDash val="solid"/>
          </a:ln>
        </p:spPr>
      </p:sp>
      <p:sp>
        <p:nvSpPr>
          <p:cNvPr id="13" name="Text 10"/>
          <p:cNvSpPr/>
          <p:nvPr/>
        </p:nvSpPr>
        <p:spPr>
          <a:xfrm>
            <a:off x="4663440" y="594360"/>
            <a:ext cx="420624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Top-20 Feature Importances — Random Forest</a:t>
            </a:r>
            <a:endParaRPr lang="en-US" sz="1050" dirty="0"/>
          </a:p>
        </p:txBody>
      </p:sp>
      <p:pic>
        <p:nvPicPr>
          <p:cNvPr id="14" name="Image 1" descr="preencoded.png"/>
          <p:cNvPicPr>
            <a:picLocks noChangeAspect="1"/>
          </p:cNvPicPr>
          <p:nvPr/>
        </p:nvPicPr>
        <p:blipFill>
          <a:blip r:embed="rId4"/>
          <a:srcRect/>
          <a:stretch/>
        </p:blipFill>
        <p:spPr>
          <a:xfrm>
            <a:off x="4736592" y="969264"/>
            <a:ext cx="4059936" cy="2231136"/>
          </a:xfrm>
          <a:prstGeom prst="rect">
            <a:avLst/>
          </a:prstGeom>
        </p:spPr>
      </p:pic>
      <p:sp>
        <p:nvSpPr>
          <p:cNvPr id="15" name="Shape 11"/>
          <p:cNvSpPr/>
          <p:nvPr/>
        </p:nvSpPr>
        <p:spPr>
          <a:xfrm>
            <a:off x="4663440" y="3401568"/>
            <a:ext cx="4206240" cy="17145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6" name="Text 12"/>
          <p:cNvSpPr/>
          <p:nvPr/>
        </p:nvSpPr>
        <p:spPr>
          <a:xfrm>
            <a:off x="4663440" y="3371850"/>
            <a:ext cx="3931920" cy="256032"/>
          </a:xfrm>
          <a:prstGeom prst="rect">
            <a:avLst/>
          </a:prstGeom>
          <a:noFill/>
          <a:ln/>
        </p:spPr>
        <p:txBody>
          <a:bodyPr wrap="square" lIns="50800" tIns="50800" rIns="50800" bIns="50800" rtlCol="0" anchor="t"/>
          <a:lstStyle/>
          <a:p>
            <a:pPr marL="0" indent="0" algn="l">
              <a:buNone/>
            </a:pPr>
            <a:r>
              <a:rPr lang="en-US" sz="1000" b="1" dirty="0">
                <a:solidFill>
                  <a:srgbClr val="1DE9B6"/>
                </a:solidFill>
                <a:latin typeface="Calibri" pitchFamily="34" charset="0"/>
                <a:ea typeface="Calibri" pitchFamily="34" charset="-122"/>
                <a:cs typeface="Calibri" pitchFamily="34" charset="-120"/>
              </a:rPr>
              <a:t>Fig 8: PCA Cumulative Explained Variance</a:t>
            </a:r>
            <a:endParaRPr lang="en-US" sz="1000" dirty="0"/>
          </a:p>
        </p:txBody>
      </p:sp>
      <p:pic>
        <p:nvPicPr>
          <p:cNvPr id="17" name="Image 2" descr="preencoded.png"/>
          <p:cNvPicPr>
            <a:picLocks noChangeAspect="1"/>
          </p:cNvPicPr>
          <p:nvPr/>
        </p:nvPicPr>
        <p:blipFill>
          <a:blip r:embed="rId5"/>
          <a:srcRect/>
          <a:stretch/>
        </p:blipFill>
        <p:spPr>
          <a:xfrm>
            <a:off x="4736592" y="3633597"/>
            <a:ext cx="4059936" cy="1216152"/>
          </a:xfrm>
          <a:prstGeom prst="rect">
            <a:avLst/>
          </a:prstGeom>
        </p:spPr>
      </p:pic>
      <p:sp>
        <p:nvSpPr>
          <p:cNvPr id="18" name="Text 13"/>
          <p:cNvSpPr/>
          <p:nvPr/>
        </p:nvSpPr>
        <p:spPr>
          <a:xfrm>
            <a:off x="4937760" y="4890897"/>
            <a:ext cx="3931920" cy="225171"/>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5 components capture ~75% variance; 10 reach ~90% — confirming moderate redundancy in the raw 37-feature set.</a:t>
            </a:r>
            <a:endParaRPr lang="en-US" sz="600" dirty="0"/>
          </a:p>
        </p:txBody>
      </p:sp>
      <p:sp>
        <p:nvSpPr>
          <p:cNvPr id="19" name="Text 14"/>
          <p:cNvSpPr/>
          <p:nvPr/>
        </p:nvSpPr>
        <p:spPr>
          <a:xfrm>
            <a:off x="365760" y="4096512"/>
            <a:ext cx="3977640" cy="320040"/>
          </a:xfrm>
          <a:prstGeom prst="rect">
            <a:avLst/>
          </a:prstGeom>
          <a:noFill/>
          <a:ln/>
        </p:spPr>
        <p:txBody>
          <a:bodyPr wrap="square" lIns="50800" tIns="50800" rIns="50800" bIns="50800" rtlCol="0" anchor="t"/>
          <a:lstStyle/>
          <a:p>
            <a:pPr marL="0" indent="0" algn="l">
              <a:buNone/>
            </a:pPr>
            <a:r>
              <a:rPr lang="en-US" sz="800" i="1" dirty="0">
                <a:solidFill>
                  <a:srgbClr val="7FA8C0"/>
                </a:solidFill>
                <a:latin typeface="Calibri" pitchFamily="34" charset="0"/>
                <a:ea typeface="Calibri" pitchFamily="34" charset="-122"/>
                <a:cs typeface="Calibri" pitchFamily="34" charset="-120"/>
              </a:rPr>
              <a:t>Fig 7: Approved 2nd-sem units lead (0.14 importance), followed by 2nd-sem grade and the composite Academic_Performance feature.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 Implementation</a:t>
            </a:r>
            <a:endParaRPr lang="en-US" sz="1600" dirty="0"/>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indent="0">
              <a:buNone/>
            </a:pPr>
            <a:r>
              <a:rPr lang="en-US" sz="900" i="1" dirty="0">
                <a:solidFill>
                  <a:srgbClr val="1DE9B6"/>
                </a:solidFill>
                <a:latin typeface="Calibri" pitchFamily="34" charset="0"/>
                <a:ea typeface="Calibri" pitchFamily="34" charset="-122"/>
                <a:cs typeface="Calibri" pitchFamily="34" charset="-120"/>
              </a:rPr>
              <a:t>Five classifiers trained on a consistent 80/20 stratified split with StandardScaler</a:t>
            </a:r>
            <a:endParaRPr lang="en-US" sz="900" dirty="0"/>
          </a:p>
        </p:txBody>
      </p:sp>
      <p:sp>
        <p:nvSpPr>
          <p:cNvPr id="5" name="Shape 3"/>
          <p:cNvSpPr/>
          <p:nvPr/>
        </p:nvSpPr>
        <p:spPr>
          <a:xfrm>
            <a:off x="274320" y="658368"/>
            <a:ext cx="8595360" cy="80467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Shape 4"/>
          <p:cNvSpPr/>
          <p:nvPr/>
        </p:nvSpPr>
        <p:spPr>
          <a:xfrm>
            <a:off x="274320" y="658368"/>
            <a:ext cx="1554480" cy="804672"/>
          </a:xfrm>
          <a:prstGeom prst="rect">
            <a:avLst/>
          </a:prstGeom>
          <a:solidFill>
            <a:srgbClr val="7FA8C0"/>
          </a:solidFill>
          <a:ln w="12700">
            <a:solidFill>
              <a:srgbClr val="7FA8C0"/>
            </a:solidFill>
            <a:prstDash val="solid"/>
          </a:ln>
        </p:spPr>
      </p:sp>
      <p:sp>
        <p:nvSpPr>
          <p:cNvPr id="7" name="Text 5"/>
          <p:cNvSpPr/>
          <p:nvPr/>
        </p:nvSpPr>
        <p:spPr>
          <a:xfrm>
            <a:off x="274320" y="886968"/>
            <a:ext cx="1554480" cy="365760"/>
          </a:xfrm>
          <a:prstGeom prst="rect">
            <a:avLst/>
          </a:prstGeom>
          <a:noFill/>
          <a:ln/>
        </p:spPr>
        <p:txBody>
          <a:bodyPr wrap="square" lIns="0" tIns="0" rIns="0" bIns="0" rtlCol="0" anchor="t"/>
          <a:lstStyle/>
          <a:p>
            <a:pPr marL="0" indent="0" algn="ctr">
              <a:buNone/>
            </a:pPr>
            <a:r>
              <a:rPr lang="en-US" sz="1050" b="1" dirty="0">
                <a:solidFill>
                  <a:srgbClr val="071221"/>
                </a:solidFill>
                <a:latin typeface="Calibri" pitchFamily="34" charset="0"/>
                <a:ea typeface="Calibri" pitchFamily="34" charset="-122"/>
                <a:cs typeface="Calibri" pitchFamily="34" charset="-120"/>
              </a:rPr>
              <a:t>Baseline</a:t>
            </a:r>
            <a:endParaRPr lang="en-US" sz="1050" dirty="0"/>
          </a:p>
        </p:txBody>
      </p:sp>
      <p:sp>
        <p:nvSpPr>
          <p:cNvPr id="8" name="Text 6"/>
          <p:cNvSpPr/>
          <p:nvPr/>
        </p:nvSpPr>
        <p:spPr>
          <a:xfrm>
            <a:off x="1965960" y="749808"/>
            <a:ext cx="2743200" cy="347472"/>
          </a:xfrm>
          <a:prstGeom prst="rect">
            <a:avLst/>
          </a:prstGeom>
          <a:noFill/>
          <a:ln/>
        </p:spPr>
        <p:txBody>
          <a:bodyPr wrap="square" lIns="50800" tIns="50800" rIns="50800" bIns="50800" rtlCol="0" anchor="t"/>
          <a:lstStyle/>
          <a:p>
            <a:pPr marL="0" indent="0" algn="l">
              <a:buNone/>
            </a:pPr>
            <a:r>
              <a:rPr lang="en-US" sz="1200" b="1" dirty="0">
                <a:solidFill>
                  <a:srgbClr val="7FA8C0"/>
                </a:solidFill>
                <a:latin typeface="Calibri" pitchFamily="34" charset="0"/>
                <a:ea typeface="Calibri" pitchFamily="34" charset="-122"/>
                <a:cs typeface="Calibri" pitchFamily="34" charset="-120"/>
              </a:rPr>
              <a:t>Logistic Regression</a:t>
            </a:r>
            <a:endParaRPr lang="en-US" sz="1200" dirty="0"/>
          </a:p>
        </p:txBody>
      </p:sp>
      <p:sp>
        <p:nvSpPr>
          <p:cNvPr id="9" name="Text 7"/>
          <p:cNvSpPr/>
          <p:nvPr/>
        </p:nvSpPr>
        <p:spPr>
          <a:xfrm>
            <a:off x="1965960" y="1097280"/>
            <a:ext cx="6720840" cy="310896"/>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Linear decision boundary with L2 regularisation. Provides an interpretable lower-bound reference for ensemble gains.</a:t>
            </a:r>
            <a:endParaRPr lang="en-US" sz="950" dirty="0"/>
          </a:p>
        </p:txBody>
      </p:sp>
      <p:sp>
        <p:nvSpPr>
          <p:cNvPr id="10" name="Shape 8"/>
          <p:cNvSpPr/>
          <p:nvPr/>
        </p:nvSpPr>
        <p:spPr>
          <a:xfrm>
            <a:off x="274320" y="1536192"/>
            <a:ext cx="8595360" cy="80467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Shape 9"/>
          <p:cNvSpPr/>
          <p:nvPr/>
        </p:nvSpPr>
        <p:spPr>
          <a:xfrm>
            <a:off x="274320" y="1536192"/>
            <a:ext cx="1554480" cy="804672"/>
          </a:xfrm>
          <a:prstGeom prst="rect">
            <a:avLst/>
          </a:prstGeom>
          <a:solidFill>
            <a:srgbClr val="13A89E"/>
          </a:solidFill>
          <a:ln w="12700">
            <a:solidFill>
              <a:srgbClr val="13A89E"/>
            </a:solidFill>
            <a:prstDash val="solid"/>
          </a:ln>
        </p:spPr>
      </p:sp>
      <p:sp>
        <p:nvSpPr>
          <p:cNvPr id="12" name="Text 10"/>
          <p:cNvSpPr/>
          <p:nvPr/>
        </p:nvSpPr>
        <p:spPr>
          <a:xfrm>
            <a:off x="274320" y="1764792"/>
            <a:ext cx="1554480" cy="365760"/>
          </a:xfrm>
          <a:prstGeom prst="rect">
            <a:avLst/>
          </a:prstGeom>
          <a:noFill/>
          <a:ln/>
        </p:spPr>
        <p:txBody>
          <a:bodyPr wrap="square" lIns="0" tIns="0" rIns="0" bIns="0" rtlCol="0" anchor="t"/>
          <a:lstStyle/>
          <a:p>
            <a:pPr marL="0" indent="0" algn="ctr">
              <a:buNone/>
            </a:pPr>
            <a:r>
              <a:rPr lang="en-US" sz="1050" b="1" dirty="0">
                <a:solidFill>
                  <a:srgbClr val="071221"/>
                </a:solidFill>
                <a:latin typeface="Calibri" pitchFamily="34" charset="0"/>
                <a:ea typeface="Calibri" pitchFamily="34" charset="-122"/>
                <a:cs typeface="Calibri" pitchFamily="34" charset="-120"/>
              </a:rPr>
              <a:t>Interpretable</a:t>
            </a:r>
            <a:endParaRPr lang="en-US" sz="1050" dirty="0"/>
          </a:p>
        </p:txBody>
      </p:sp>
      <p:sp>
        <p:nvSpPr>
          <p:cNvPr id="13" name="Text 11"/>
          <p:cNvSpPr/>
          <p:nvPr/>
        </p:nvSpPr>
        <p:spPr>
          <a:xfrm>
            <a:off x="1965960" y="1627632"/>
            <a:ext cx="2743200" cy="347472"/>
          </a:xfrm>
          <a:prstGeom prst="rect">
            <a:avLst/>
          </a:prstGeom>
          <a:noFill/>
          <a:ln/>
        </p:spPr>
        <p:txBody>
          <a:bodyPr wrap="square" lIns="50800" tIns="50800" rIns="50800" bIns="50800" rtlCol="0" anchor="t"/>
          <a:lstStyle/>
          <a:p>
            <a:pPr marL="0" indent="0" algn="l">
              <a:buNone/>
            </a:pPr>
            <a:r>
              <a:rPr lang="en-US" sz="1200" b="1" dirty="0">
                <a:solidFill>
                  <a:srgbClr val="13A89E"/>
                </a:solidFill>
                <a:latin typeface="Calibri" pitchFamily="34" charset="0"/>
                <a:ea typeface="Calibri" pitchFamily="34" charset="-122"/>
                <a:cs typeface="Calibri" pitchFamily="34" charset="-120"/>
              </a:rPr>
              <a:t>Decision Tree</a:t>
            </a:r>
            <a:endParaRPr lang="en-US" sz="1200" dirty="0"/>
          </a:p>
        </p:txBody>
      </p:sp>
      <p:sp>
        <p:nvSpPr>
          <p:cNvPr id="14" name="Text 12"/>
          <p:cNvSpPr/>
          <p:nvPr/>
        </p:nvSpPr>
        <p:spPr>
          <a:xfrm>
            <a:off x="1965960" y="1975104"/>
            <a:ext cx="6720840" cy="310896"/>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Recursive feature splitting to minimise impurity. High interpretability but prone to overfitting without pruning.</a:t>
            </a:r>
            <a:endParaRPr lang="en-US" sz="950" dirty="0"/>
          </a:p>
        </p:txBody>
      </p:sp>
      <p:sp>
        <p:nvSpPr>
          <p:cNvPr id="15" name="Shape 13"/>
          <p:cNvSpPr/>
          <p:nvPr/>
        </p:nvSpPr>
        <p:spPr>
          <a:xfrm>
            <a:off x="274320" y="2414016"/>
            <a:ext cx="8595360" cy="80467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6" name="Shape 14"/>
          <p:cNvSpPr/>
          <p:nvPr/>
        </p:nvSpPr>
        <p:spPr>
          <a:xfrm>
            <a:off x="274320" y="2414016"/>
            <a:ext cx="1554480" cy="804672"/>
          </a:xfrm>
          <a:prstGeom prst="rect">
            <a:avLst/>
          </a:prstGeom>
          <a:solidFill>
            <a:srgbClr val="0D7C7C"/>
          </a:solidFill>
          <a:ln w="12700">
            <a:solidFill>
              <a:srgbClr val="0D7C7C"/>
            </a:solidFill>
            <a:prstDash val="solid"/>
          </a:ln>
        </p:spPr>
      </p:sp>
      <p:sp>
        <p:nvSpPr>
          <p:cNvPr id="17" name="Text 15"/>
          <p:cNvSpPr/>
          <p:nvPr/>
        </p:nvSpPr>
        <p:spPr>
          <a:xfrm>
            <a:off x="274320" y="2642616"/>
            <a:ext cx="1554480" cy="365760"/>
          </a:xfrm>
          <a:prstGeom prst="rect">
            <a:avLst/>
          </a:prstGeom>
          <a:noFill/>
          <a:ln/>
        </p:spPr>
        <p:txBody>
          <a:bodyPr wrap="square" lIns="0" tIns="0" rIns="0" bIns="0" rtlCol="0" anchor="t"/>
          <a:lstStyle/>
          <a:p>
            <a:pPr marL="0" indent="0" algn="ctr">
              <a:buNone/>
            </a:pPr>
            <a:r>
              <a:rPr lang="en-US" sz="1050" b="1" dirty="0">
                <a:solidFill>
                  <a:srgbClr val="071221"/>
                </a:solidFill>
                <a:latin typeface="Calibri" pitchFamily="34" charset="0"/>
                <a:ea typeface="Calibri" pitchFamily="34" charset="-122"/>
                <a:cs typeface="Calibri" pitchFamily="34" charset="-120"/>
              </a:rPr>
              <a:t>Ensemble</a:t>
            </a:r>
            <a:endParaRPr lang="en-US" sz="1050" dirty="0"/>
          </a:p>
        </p:txBody>
      </p:sp>
      <p:sp>
        <p:nvSpPr>
          <p:cNvPr id="18" name="Text 16"/>
          <p:cNvSpPr/>
          <p:nvPr/>
        </p:nvSpPr>
        <p:spPr>
          <a:xfrm>
            <a:off x="1965960" y="2505456"/>
            <a:ext cx="2743200" cy="347472"/>
          </a:xfrm>
          <a:prstGeom prst="rect">
            <a:avLst/>
          </a:prstGeom>
          <a:noFill/>
          <a:ln/>
        </p:spPr>
        <p:txBody>
          <a:bodyPr wrap="square" lIns="50800" tIns="50800" rIns="50800" bIns="50800" rtlCol="0" anchor="t"/>
          <a:lstStyle/>
          <a:p>
            <a:pPr marL="0" indent="0" algn="l">
              <a:buNone/>
            </a:pPr>
            <a:r>
              <a:rPr lang="en-US" sz="1200" b="1" dirty="0">
                <a:solidFill>
                  <a:srgbClr val="0D7C7C"/>
                </a:solidFill>
                <a:latin typeface="Calibri" pitchFamily="34" charset="0"/>
                <a:ea typeface="Calibri" pitchFamily="34" charset="-122"/>
                <a:cs typeface="Calibri" pitchFamily="34" charset="-120"/>
              </a:rPr>
              <a:t>Random Forest</a:t>
            </a:r>
            <a:endParaRPr lang="en-US" sz="1200" dirty="0"/>
          </a:p>
        </p:txBody>
      </p:sp>
      <p:sp>
        <p:nvSpPr>
          <p:cNvPr id="19" name="Text 17"/>
          <p:cNvSpPr/>
          <p:nvPr/>
        </p:nvSpPr>
        <p:spPr>
          <a:xfrm>
            <a:off x="1965960" y="2852928"/>
            <a:ext cx="6720840" cy="310896"/>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Bootstrapped ensemble of trees. Reduces prediction variance and produces the feature importance rankings used in Slide 7.</a:t>
            </a:r>
            <a:endParaRPr lang="en-US" sz="950" dirty="0"/>
          </a:p>
        </p:txBody>
      </p:sp>
      <p:sp>
        <p:nvSpPr>
          <p:cNvPr id="20" name="Shape 18"/>
          <p:cNvSpPr/>
          <p:nvPr/>
        </p:nvSpPr>
        <p:spPr>
          <a:xfrm>
            <a:off x="274320" y="3291840"/>
            <a:ext cx="8595360" cy="80467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1" name="Shape 19"/>
          <p:cNvSpPr/>
          <p:nvPr/>
        </p:nvSpPr>
        <p:spPr>
          <a:xfrm>
            <a:off x="274320" y="3291840"/>
            <a:ext cx="1554480" cy="804672"/>
          </a:xfrm>
          <a:prstGeom prst="rect">
            <a:avLst/>
          </a:prstGeom>
          <a:solidFill>
            <a:srgbClr val="F4A535"/>
          </a:solidFill>
          <a:ln w="12700">
            <a:solidFill>
              <a:srgbClr val="F4A535"/>
            </a:solidFill>
            <a:prstDash val="solid"/>
          </a:ln>
        </p:spPr>
      </p:sp>
      <p:sp>
        <p:nvSpPr>
          <p:cNvPr id="22" name="Text 20"/>
          <p:cNvSpPr/>
          <p:nvPr/>
        </p:nvSpPr>
        <p:spPr>
          <a:xfrm>
            <a:off x="274320" y="3520440"/>
            <a:ext cx="1554480" cy="365760"/>
          </a:xfrm>
          <a:prstGeom prst="rect">
            <a:avLst/>
          </a:prstGeom>
          <a:noFill/>
          <a:ln/>
        </p:spPr>
        <p:txBody>
          <a:bodyPr wrap="square" lIns="0" tIns="0" rIns="0" bIns="0" rtlCol="0" anchor="t"/>
          <a:lstStyle/>
          <a:p>
            <a:pPr marL="0" indent="0" algn="ctr">
              <a:buNone/>
            </a:pPr>
            <a:r>
              <a:rPr lang="en-US" sz="1050" b="1" dirty="0">
                <a:solidFill>
                  <a:srgbClr val="071221"/>
                </a:solidFill>
                <a:latin typeface="Calibri" pitchFamily="34" charset="0"/>
                <a:ea typeface="Calibri" pitchFamily="34" charset="-122"/>
                <a:cs typeface="Calibri" pitchFamily="34" charset="-120"/>
              </a:rPr>
              <a:t>Margin-Based</a:t>
            </a:r>
            <a:endParaRPr lang="en-US" sz="1050" dirty="0"/>
          </a:p>
        </p:txBody>
      </p:sp>
      <p:sp>
        <p:nvSpPr>
          <p:cNvPr id="23" name="Text 21"/>
          <p:cNvSpPr/>
          <p:nvPr/>
        </p:nvSpPr>
        <p:spPr>
          <a:xfrm>
            <a:off x="1965960" y="3383280"/>
            <a:ext cx="2743200" cy="347472"/>
          </a:xfrm>
          <a:prstGeom prst="rect">
            <a:avLst/>
          </a:prstGeom>
          <a:noFill/>
          <a:ln/>
        </p:spPr>
        <p:txBody>
          <a:bodyPr wrap="square" lIns="50800" tIns="50800" rIns="50800" bIns="50800" rtlCol="0" anchor="t"/>
          <a:lstStyle/>
          <a:p>
            <a:pPr marL="0" indent="0" algn="l">
              <a:buNone/>
            </a:pPr>
            <a:r>
              <a:rPr lang="en-US" sz="1200" b="1" dirty="0">
                <a:solidFill>
                  <a:srgbClr val="F4A535"/>
                </a:solidFill>
                <a:latin typeface="Calibri" pitchFamily="34" charset="0"/>
                <a:ea typeface="Calibri" pitchFamily="34" charset="-122"/>
                <a:cs typeface="Calibri" pitchFamily="34" charset="-120"/>
              </a:rPr>
              <a:t>SVM (RBF Kernel)</a:t>
            </a:r>
            <a:endParaRPr lang="en-US" sz="1200" dirty="0"/>
          </a:p>
        </p:txBody>
      </p:sp>
      <p:sp>
        <p:nvSpPr>
          <p:cNvPr id="24" name="Text 22"/>
          <p:cNvSpPr/>
          <p:nvPr/>
        </p:nvSpPr>
        <p:spPr>
          <a:xfrm>
            <a:off x="1965960" y="3730752"/>
            <a:ext cx="6720840" cy="310896"/>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Maximum-margin classifier in kernel-projected space. Sensitive to feature scale  StandardScaler is mandatory here.</a:t>
            </a:r>
            <a:endParaRPr lang="en-US" sz="950" dirty="0"/>
          </a:p>
        </p:txBody>
      </p:sp>
      <p:sp>
        <p:nvSpPr>
          <p:cNvPr id="25" name="Shape 23"/>
          <p:cNvSpPr/>
          <p:nvPr/>
        </p:nvSpPr>
        <p:spPr>
          <a:xfrm>
            <a:off x="274320" y="4169664"/>
            <a:ext cx="8595360" cy="80467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6" name="Shape 24"/>
          <p:cNvSpPr/>
          <p:nvPr/>
        </p:nvSpPr>
        <p:spPr>
          <a:xfrm>
            <a:off x="274320" y="4169664"/>
            <a:ext cx="1554480" cy="804672"/>
          </a:xfrm>
          <a:prstGeom prst="rect">
            <a:avLst/>
          </a:prstGeom>
          <a:solidFill>
            <a:srgbClr val="1DE9B6"/>
          </a:solidFill>
          <a:ln w="12700">
            <a:solidFill>
              <a:srgbClr val="1DE9B6"/>
            </a:solidFill>
            <a:prstDash val="solid"/>
          </a:ln>
        </p:spPr>
      </p:sp>
      <p:sp>
        <p:nvSpPr>
          <p:cNvPr id="27" name="Text 25"/>
          <p:cNvSpPr/>
          <p:nvPr/>
        </p:nvSpPr>
        <p:spPr>
          <a:xfrm>
            <a:off x="274320" y="4398264"/>
            <a:ext cx="1554480" cy="365760"/>
          </a:xfrm>
          <a:prstGeom prst="rect">
            <a:avLst/>
          </a:prstGeom>
          <a:noFill/>
          <a:ln/>
        </p:spPr>
        <p:txBody>
          <a:bodyPr wrap="square" lIns="0" tIns="0" rIns="0" bIns="0" rtlCol="0" anchor="t"/>
          <a:lstStyle/>
          <a:p>
            <a:pPr marL="0" indent="0" algn="ctr">
              <a:buNone/>
            </a:pPr>
            <a:r>
              <a:rPr lang="en-US" sz="1050" b="1" dirty="0">
                <a:solidFill>
                  <a:srgbClr val="071221"/>
                </a:solidFill>
                <a:latin typeface="Calibri" pitchFamily="34" charset="0"/>
                <a:ea typeface="Calibri" pitchFamily="34" charset="-122"/>
                <a:cs typeface="Calibri" pitchFamily="34" charset="-120"/>
              </a:rPr>
              <a:t>Best Model</a:t>
            </a:r>
            <a:endParaRPr lang="en-US" sz="1050" dirty="0"/>
          </a:p>
        </p:txBody>
      </p:sp>
      <p:sp>
        <p:nvSpPr>
          <p:cNvPr id="28" name="Text 26"/>
          <p:cNvSpPr/>
          <p:nvPr/>
        </p:nvSpPr>
        <p:spPr>
          <a:xfrm>
            <a:off x="1965960" y="4261104"/>
            <a:ext cx="2743200" cy="347472"/>
          </a:xfrm>
          <a:prstGeom prst="rect">
            <a:avLst/>
          </a:prstGeom>
          <a:noFill/>
          <a:ln/>
        </p:spPr>
        <p:txBody>
          <a:bodyPr wrap="square" lIns="50800" tIns="50800" rIns="50800" bIns="50800" rtlCol="0" anchor="t"/>
          <a:lstStyle/>
          <a:p>
            <a:pPr marL="0" indent="0" algn="l">
              <a:buNone/>
            </a:pPr>
            <a:r>
              <a:rPr lang="en-US" sz="1200" b="1" dirty="0">
                <a:solidFill>
                  <a:srgbClr val="1DE9B6"/>
                </a:solidFill>
                <a:latin typeface="Calibri" pitchFamily="34" charset="0"/>
                <a:ea typeface="Calibri" pitchFamily="34" charset="-122"/>
                <a:cs typeface="Calibri" pitchFamily="34" charset="-120"/>
              </a:rPr>
              <a:t>XGBoost</a:t>
            </a:r>
            <a:endParaRPr lang="en-US" sz="1200" dirty="0"/>
          </a:p>
        </p:txBody>
      </p:sp>
      <p:sp>
        <p:nvSpPr>
          <p:cNvPr id="29" name="Text 27"/>
          <p:cNvSpPr/>
          <p:nvPr/>
        </p:nvSpPr>
        <p:spPr>
          <a:xfrm>
            <a:off x="1965960" y="4608576"/>
            <a:ext cx="6720840" cy="310896"/>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Sequential gradient-boosted trees with L1/L2 regularisation. Captures nonlinear feature interactions; highest F1 score.</a:t>
            </a:r>
            <a:endParaRPr lang="en-US" sz="950" dirty="0"/>
          </a:p>
        </p:txBody>
      </p:sp>
      <p:sp>
        <p:nvSpPr>
          <p:cNvPr id="30" name="Shape 28"/>
          <p:cNvSpPr/>
          <p:nvPr/>
        </p:nvSpPr>
        <p:spPr>
          <a:xfrm>
            <a:off x="274320" y="5001768"/>
            <a:ext cx="8595360" cy="0"/>
          </a:xfrm>
          <a:prstGeom prst="rect">
            <a:avLst/>
          </a:prstGeom>
          <a:solidFill>
            <a:srgbClr val="071221"/>
          </a:solidFill>
          <a:ln w="12700">
            <a:solidFill>
              <a:srgbClr val="07122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Model Evaluation &amp; Performance Comparison</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235927921"/>
              </p:ext>
            </p:extLst>
          </p:nvPr>
        </p:nvGraphicFramePr>
        <p:xfrm>
          <a:off x="274320" y="594360"/>
          <a:ext cx="5074920" cy="2020824"/>
        </p:xfrm>
        <a:graphic>
          <a:graphicData uri="http://schemas.openxmlformats.org/drawingml/2006/table">
            <a:tbl>
              <a:tblPr/>
              <a:tblGrid>
                <a:gridCol w="1554480">
                  <a:extLst>
                    <a:ext uri="{9D8B030D-6E8A-4147-A177-3AD203B41FA5}">
                      <a16:colId xmlns:a16="http://schemas.microsoft.com/office/drawing/2014/main" val="20000"/>
                    </a:ext>
                  </a:extLst>
                </a:gridCol>
                <a:gridCol w="704088">
                  <a:extLst>
                    <a:ext uri="{9D8B030D-6E8A-4147-A177-3AD203B41FA5}">
                      <a16:colId xmlns:a16="http://schemas.microsoft.com/office/drawing/2014/main" val="20001"/>
                    </a:ext>
                  </a:extLst>
                </a:gridCol>
                <a:gridCol w="704088">
                  <a:extLst>
                    <a:ext uri="{9D8B030D-6E8A-4147-A177-3AD203B41FA5}">
                      <a16:colId xmlns:a16="http://schemas.microsoft.com/office/drawing/2014/main" val="20002"/>
                    </a:ext>
                  </a:extLst>
                </a:gridCol>
                <a:gridCol w="704088">
                  <a:extLst>
                    <a:ext uri="{9D8B030D-6E8A-4147-A177-3AD203B41FA5}">
                      <a16:colId xmlns:a16="http://schemas.microsoft.com/office/drawing/2014/main" val="20003"/>
                    </a:ext>
                  </a:extLst>
                </a:gridCol>
                <a:gridCol w="704088">
                  <a:extLst>
                    <a:ext uri="{9D8B030D-6E8A-4147-A177-3AD203B41FA5}">
                      <a16:colId xmlns:a16="http://schemas.microsoft.com/office/drawing/2014/main" val="20004"/>
                    </a:ext>
                  </a:extLst>
                </a:gridCol>
                <a:gridCol w="704088">
                  <a:extLst>
                    <a:ext uri="{9D8B030D-6E8A-4147-A177-3AD203B41FA5}">
                      <a16:colId xmlns:a16="http://schemas.microsoft.com/office/drawing/2014/main" val="20005"/>
                    </a:ext>
                  </a:extLst>
                </a:gridCol>
              </a:tblGrid>
              <a:tr h="336804">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0D7C7C"/>
                    </a:solidFill>
                  </a:tcPr>
                </a:tc>
                <a:extLst>
                  <a:ext uri="{0D108BD9-81ED-4DB2-BD59-A6C34878D82A}">
                    <a16:rowId xmlns:a16="http://schemas.microsoft.com/office/drawing/2014/main" val="10000"/>
                  </a:ext>
                </a:extLst>
              </a:tr>
              <a:tr h="336804">
                <a:tc>
                  <a:txBody>
                    <a:bodyPr/>
                    <a:lstStyle/>
                    <a:p>
                      <a:pPr marL="0" indent="0" algn="ctr">
                        <a:buNone/>
                      </a:pPr>
                      <a:r>
                        <a:rPr lang="en-US" sz="1000" b="1" dirty="0">
                          <a:solidFill>
                            <a:srgbClr val="1DE9B6"/>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1DE9B6"/>
                          </a:solidFill>
                          <a:latin typeface="Calibri" pitchFamily="34" charset="0"/>
                          <a:ea typeface="Calibri" pitchFamily="34" charset="-122"/>
                          <a:cs typeface="Calibri" pitchFamily="34" charset="-120"/>
                        </a:rPr>
                        <a:t>0.882</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1DE9B6"/>
                          </a:solidFill>
                          <a:latin typeface="Calibri" pitchFamily="34" charset="0"/>
                          <a:ea typeface="Calibri" pitchFamily="34" charset="-122"/>
                          <a:cs typeface="Calibri" pitchFamily="34" charset="-120"/>
                        </a:rPr>
                        <a:t>0.866</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1DE9B6"/>
                          </a:solidFill>
                          <a:latin typeface="Calibri" pitchFamily="34" charset="0"/>
                          <a:ea typeface="Calibri" pitchFamily="34" charset="-122"/>
                          <a:cs typeface="Calibri" pitchFamily="34" charset="-120"/>
                        </a:rPr>
                        <a:t>0.750</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1DE9B6"/>
                          </a:solidFill>
                          <a:latin typeface="Calibri" pitchFamily="34" charset="0"/>
                          <a:ea typeface="Calibri" pitchFamily="34" charset="-122"/>
                          <a:cs typeface="Calibri" pitchFamily="34" charset="-120"/>
                        </a:rPr>
                        <a:t>0.804</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1DE9B6"/>
                          </a:solidFill>
                          <a:latin typeface="Calibri" pitchFamily="34" charset="0"/>
                          <a:ea typeface="Calibri" pitchFamily="34" charset="-122"/>
                          <a:cs typeface="Calibri" pitchFamily="34" charset="-120"/>
                        </a:rPr>
                        <a:t>0.923</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extLst>
                  <a:ext uri="{0D108BD9-81ED-4DB2-BD59-A6C34878D82A}">
                    <a16:rowId xmlns:a16="http://schemas.microsoft.com/office/drawing/2014/main" val="10001"/>
                  </a:ext>
                </a:extLst>
              </a:tr>
              <a:tr h="336804">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0.879</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0.867</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0.736</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0.796</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0.924</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extLst>
                  <a:ext uri="{0D108BD9-81ED-4DB2-BD59-A6C34878D82A}">
                    <a16:rowId xmlns:a16="http://schemas.microsoft.com/office/drawing/2014/main" val="10002"/>
                  </a:ext>
                </a:extLst>
              </a:tr>
              <a:tr h="336804">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0.873</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0.858</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0.725</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0.786</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0.920</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extLst>
                  <a:ext uri="{0D108BD9-81ED-4DB2-BD59-A6C34878D82A}">
                    <a16:rowId xmlns:a16="http://schemas.microsoft.com/office/drawing/2014/main" val="10003"/>
                  </a:ext>
                </a:extLst>
              </a:tr>
              <a:tr h="336804">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SVM</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0.871</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0.890</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0.683</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0.773</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0.917</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62840"/>
                    </a:solidFill>
                  </a:tcPr>
                </a:tc>
                <a:extLst>
                  <a:ext uri="{0D108BD9-81ED-4DB2-BD59-A6C34878D82A}">
                    <a16:rowId xmlns:a16="http://schemas.microsoft.com/office/drawing/2014/main" val="10004"/>
                  </a:ext>
                </a:extLst>
              </a:tr>
              <a:tr h="336804">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Decision Tree</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0.805</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0.687</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0.718</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888888"/>
                          </a:solidFill>
                          <a:latin typeface="Calibri" pitchFamily="34" charset="0"/>
                          <a:ea typeface="Calibri" pitchFamily="34" charset="-122"/>
                          <a:cs typeface="Calibri" pitchFamily="34" charset="-120"/>
                        </a:rPr>
                        <a:t>0.702</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tc>
                  <a:txBody>
                    <a:bodyPr/>
                    <a:lstStyle/>
                    <a:p>
                      <a:pPr marL="0" indent="0" algn="ctr">
                        <a:buNone/>
                      </a:pPr>
                      <a:r>
                        <a:rPr lang="en-US" sz="1000" dirty="0">
                          <a:solidFill>
                            <a:srgbClr val="FFFFFF"/>
                          </a:solidFill>
                          <a:latin typeface="Calibri" pitchFamily="34" charset="0"/>
                          <a:ea typeface="Calibri" pitchFamily="34" charset="-122"/>
                          <a:cs typeface="Calibri" pitchFamily="34" charset="-120"/>
                        </a:rPr>
                        <a:t>0.782</a:t>
                      </a:r>
                      <a:endParaRPr lang="en-US" sz="1000" dirty="0">
                        <a:latin typeface="Calibri" charset="0"/>
                        <a:ea typeface="Calibri" charset="0"/>
                        <a:cs typeface="Calibri" charset="0"/>
                      </a:endParaRPr>
                    </a:p>
                  </a:txBody>
                  <a:tcPr anchor="ctr">
                    <a:lnL w="6350" cap="flat" cmpd="sng" algn="ctr">
                      <a:solidFill>
                        <a:srgbClr val="0D7C7C"/>
                      </a:solidFill>
                      <a:prstDash val="solid"/>
                      <a:round/>
                      <a:headEnd type="none" w="med" len="med"/>
                      <a:tailEnd type="none" w="med" len="med"/>
                    </a:lnL>
                    <a:lnR w="6350" cap="flat" cmpd="sng" algn="ctr">
                      <a:solidFill>
                        <a:srgbClr val="0D7C7C"/>
                      </a:solidFill>
                      <a:prstDash val="solid"/>
                      <a:round/>
                      <a:headEnd type="none" w="med" len="med"/>
                      <a:tailEnd type="none" w="med" len="med"/>
                    </a:lnR>
                    <a:lnT w="6350" cap="flat" cmpd="sng" algn="ctr">
                      <a:solidFill>
                        <a:srgbClr val="0D7C7C"/>
                      </a:solidFill>
                      <a:prstDash val="solid"/>
                      <a:round/>
                      <a:headEnd type="none" w="med" len="med"/>
                      <a:tailEnd type="none" w="med" len="med"/>
                    </a:lnT>
                    <a:lnB w="6350" cap="flat" cmpd="sng" algn="ctr">
                      <a:solidFill>
                        <a:srgbClr val="0D7C7C"/>
                      </a:solidFill>
                      <a:prstDash val="solid"/>
                      <a:round/>
                      <a:headEnd type="none" w="med" len="med"/>
                      <a:tailEnd type="none" w="med" len="med"/>
                    </a:lnB>
                    <a:solidFill>
                      <a:srgbClr val="112233"/>
                    </a:solidFill>
                  </a:tcPr>
                </a:tc>
                <a:extLst>
                  <a:ext uri="{0D108BD9-81ED-4DB2-BD59-A6C34878D82A}">
                    <a16:rowId xmlns:a16="http://schemas.microsoft.com/office/drawing/2014/main" val="10005"/>
                  </a:ext>
                </a:extLst>
              </a:tr>
            </a:tbl>
          </a:graphicData>
        </a:graphic>
      </p:graphicFrame>
      <p:sp>
        <p:nvSpPr>
          <p:cNvPr id="5" name="Shape 2"/>
          <p:cNvSpPr/>
          <p:nvPr/>
        </p:nvSpPr>
        <p:spPr>
          <a:xfrm>
            <a:off x="5596128" y="594360"/>
            <a:ext cx="3273552" cy="178308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Text 3"/>
          <p:cNvSpPr/>
          <p:nvPr/>
        </p:nvSpPr>
        <p:spPr>
          <a:xfrm>
            <a:off x="5687568" y="621792"/>
            <a:ext cx="3090672" cy="256032"/>
          </a:xfrm>
          <a:prstGeom prst="rect">
            <a:avLst/>
          </a:prstGeom>
          <a:noFill/>
          <a:ln/>
        </p:spPr>
        <p:txBody>
          <a:bodyPr wrap="square" lIns="50800" tIns="50800" rIns="50800" bIns="50800" rtlCol="0" anchor="t"/>
          <a:lstStyle/>
          <a:p>
            <a:pPr marL="0" indent="0" algn="l">
              <a:buNone/>
            </a:pPr>
            <a:r>
              <a:rPr lang="en-US" sz="1000" b="1" dirty="0">
                <a:solidFill>
                  <a:srgbClr val="1DE9B6"/>
                </a:solidFill>
                <a:latin typeface="Calibri" pitchFamily="34" charset="0"/>
                <a:ea typeface="Calibri" pitchFamily="34" charset="-122"/>
                <a:cs typeface="Calibri" pitchFamily="34" charset="-120"/>
              </a:rPr>
              <a:t>F1-Score Comparison</a:t>
            </a:r>
            <a:endParaRPr lang="en-US" sz="1000" dirty="0"/>
          </a:p>
        </p:txBody>
      </p:sp>
      <p:pic>
        <p:nvPicPr>
          <p:cNvPr id="7" name="Image 0" descr="preencoded.png"/>
          <p:cNvPicPr>
            <a:picLocks noChangeAspect="1"/>
          </p:cNvPicPr>
          <p:nvPr/>
        </p:nvPicPr>
        <p:blipFill>
          <a:blip r:embed="rId3"/>
          <a:srcRect/>
          <a:stretch/>
        </p:blipFill>
        <p:spPr>
          <a:xfrm>
            <a:off x="5669280" y="896112"/>
            <a:ext cx="3127248" cy="1389888"/>
          </a:xfrm>
          <a:prstGeom prst="rect">
            <a:avLst/>
          </a:prstGeom>
        </p:spPr>
      </p:pic>
      <p:sp>
        <p:nvSpPr>
          <p:cNvPr id="8" name="Shape 4"/>
          <p:cNvSpPr/>
          <p:nvPr/>
        </p:nvSpPr>
        <p:spPr>
          <a:xfrm>
            <a:off x="5596128" y="2487168"/>
            <a:ext cx="3273552" cy="1115568"/>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9" name="Text 5"/>
          <p:cNvSpPr/>
          <p:nvPr/>
        </p:nvSpPr>
        <p:spPr>
          <a:xfrm>
            <a:off x="5687568" y="2514600"/>
            <a:ext cx="3090672" cy="256032"/>
          </a:xfrm>
          <a:prstGeom prst="rect">
            <a:avLst/>
          </a:prstGeom>
          <a:noFill/>
          <a:ln/>
        </p:spPr>
        <p:txBody>
          <a:bodyPr wrap="square" lIns="50800" tIns="50800" rIns="50800" bIns="50800" rtlCol="0" anchor="t"/>
          <a:lstStyle/>
          <a:p>
            <a:pPr marL="0" indent="0" algn="l">
              <a:buNone/>
            </a:pPr>
            <a:r>
              <a:rPr lang="en-US" sz="950" b="1" dirty="0">
                <a:solidFill>
                  <a:srgbClr val="F4A535"/>
                </a:solidFill>
                <a:latin typeface="Calibri" pitchFamily="34" charset="0"/>
                <a:ea typeface="Calibri" pitchFamily="34" charset="-122"/>
                <a:cs typeface="Calibri" pitchFamily="34" charset="-120"/>
              </a:rPr>
              <a:t>ROC Curves (AUC: RF 0.924, XGB 0.923, LR 0.920)</a:t>
            </a:r>
            <a:endParaRPr lang="en-US" sz="950" dirty="0"/>
          </a:p>
        </p:txBody>
      </p:sp>
      <p:pic>
        <p:nvPicPr>
          <p:cNvPr id="4" name="Image 1" descr="preencoded.png"/>
          <p:cNvPicPr>
            <a:picLocks noChangeAspect="1"/>
          </p:cNvPicPr>
          <p:nvPr/>
        </p:nvPicPr>
        <p:blipFill>
          <a:blip r:embed="rId4"/>
          <a:srcRect/>
          <a:stretch/>
        </p:blipFill>
        <p:spPr>
          <a:xfrm>
            <a:off x="5669280" y="2788920"/>
            <a:ext cx="3127248" cy="768096"/>
          </a:xfrm>
          <a:prstGeom prst="rect">
            <a:avLst/>
          </a:prstGeom>
        </p:spPr>
      </p:pic>
      <p:sp>
        <p:nvSpPr>
          <p:cNvPr id="11" name="Shape 6"/>
          <p:cNvSpPr/>
          <p:nvPr/>
        </p:nvSpPr>
        <p:spPr>
          <a:xfrm>
            <a:off x="274320" y="2651760"/>
            <a:ext cx="5074920" cy="242316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2" name="Text 7"/>
          <p:cNvSpPr/>
          <p:nvPr/>
        </p:nvSpPr>
        <p:spPr>
          <a:xfrm>
            <a:off x="384048" y="2688336"/>
            <a:ext cx="4846320" cy="256032"/>
          </a:xfrm>
          <a:prstGeom prst="rect">
            <a:avLst/>
          </a:prstGeom>
          <a:noFill/>
          <a:ln/>
        </p:spPr>
        <p:txBody>
          <a:bodyPr wrap="square" lIns="50800" tIns="50800" rIns="50800" bIns="50800" rtlCol="0" anchor="t"/>
          <a:lstStyle/>
          <a:p>
            <a:pPr marL="0" indent="0" algn="l">
              <a:buNone/>
            </a:pPr>
            <a:r>
              <a:rPr lang="en-US" sz="1050" b="1" dirty="0">
                <a:solidFill>
                  <a:srgbClr val="1DE9B6"/>
                </a:solidFill>
                <a:latin typeface="Calibri" pitchFamily="34" charset="0"/>
                <a:ea typeface="Calibri" pitchFamily="34" charset="-122"/>
                <a:cs typeface="Calibri" pitchFamily="34" charset="-120"/>
              </a:rPr>
              <a:t>Confusion Matrices — All Five Models</a:t>
            </a:r>
            <a:endParaRPr lang="en-US" sz="1050" dirty="0"/>
          </a:p>
        </p:txBody>
      </p:sp>
      <p:pic>
        <p:nvPicPr>
          <p:cNvPr id="13" name="Image 2" descr="preencoded.png"/>
          <p:cNvPicPr>
            <a:picLocks noChangeAspect="1"/>
          </p:cNvPicPr>
          <p:nvPr/>
        </p:nvPicPr>
        <p:blipFill>
          <a:blip r:embed="rId5"/>
          <a:srcRect/>
          <a:stretch/>
        </p:blipFill>
        <p:spPr>
          <a:xfrm>
            <a:off x="347472" y="2971800"/>
            <a:ext cx="4928616" cy="2029968"/>
          </a:xfrm>
          <a:prstGeom prst="rect">
            <a:avLst/>
          </a:prstGeom>
        </p:spPr>
      </p:pic>
      <p:sp>
        <p:nvSpPr>
          <p:cNvPr id="14" name="Shape 8"/>
          <p:cNvSpPr/>
          <p:nvPr/>
        </p:nvSpPr>
        <p:spPr>
          <a:xfrm>
            <a:off x="5596128" y="3703320"/>
            <a:ext cx="3273552" cy="1353312"/>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5" name="Text 9"/>
          <p:cNvSpPr/>
          <p:nvPr/>
        </p:nvSpPr>
        <p:spPr>
          <a:xfrm>
            <a:off x="5687568" y="3730752"/>
            <a:ext cx="3090672" cy="237744"/>
          </a:xfrm>
          <a:prstGeom prst="rect">
            <a:avLst/>
          </a:prstGeom>
          <a:noFill/>
          <a:ln/>
        </p:spPr>
        <p:txBody>
          <a:bodyPr wrap="square" lIns="50800" tIns="50800" rIns="50800" bIns="50800" rtlCol="0" anchor="t"/>
          <a:lstStyle/>
          <a:p>
            <a:pPr marL="0" indent="0" algn="l">
              <a:buNone/>
            </a:pPr>
            <a:r>
              <a:rPr lang="en-US" sz="950" b="1" dirty="0">
                <a:solidFill>
                  <a:srgbClr val="13A89E"/>
                </a:solidFill>
                <a:latin typeface="Calibri" pitchFamily="34" charset="0"/>
                <a:ea typeface="Calibri" pitchFamily="34" charset="-122"/>
                <a:cs typeface="Calibri" pitchFamily="34" charset="-120"/>
              </a:rPr>
              <a:t>Precision-Recall Curves</a:t>
            </a:r>
            <a:endParaRPr lang="en-US" sz="950" dirty="0"/>
          </a:p>
        </p:txBody>
      </p:sp>
      <p:pic>
        <p:nvPicPr>
          <p:cNvPr id="16" name="Image 3" descr="preencoded.png"/>
          <p:cNvPicPr>
            <a:picLocks noChangeAspect="1"/>
          </p:cNvPicPr>
          <p:nvPr/>
        </p:nvPicPr>
        <p:blipFill>
          <a:blip r:embed="rId6"/>
          <a:srcRect/>
          <a:stretch/>
        </p:blipFill>
        <p:spPr>
          <a:xfrm>
            <a:off x="5669280" y="3986784"/>
            <a:ext cx="3127248" cy="1005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Bias &amp; Fairness Analysis SHAP Explainability &amp; Demographic Parity</a:t>
            </a:r>
            <a:endParaRPr lang="en-US" sz="1600" dirty="0"/>
          </a:p>
        </p:txBody>
      </p:sp>
      <p:sp>
        <p:nvSpPr>
          <p:cNvPr id="4" name="Shape 2"/>
          <p:cNvSpPr/>
          <p:nvPr/>
        </p:nvSpPr>
        <p:spPr>
          <a:xfrm>
            <a:off x="274320" y="594360"/>
            <a:ext cx="4160520" cy="443484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5" name="Shape 3"/>
          <p:cNvSpPr/>
          <p:nvPr/>
        </p:nvSpPr>
        <p:spPr>
          <a:xfrm>
            <a:off x="274320" y="594360"/>
            <a:ext cx="4160520" cy="347472"/>
          </a:xfrm>
          <a:prstGeom prst="rect">
            <a:avLst/>
          </a:prstGeom>
          <a:solidFill>
            <a:srgbClr val="0D7C7C"/>
          </a:solidFill>
          <a:ln w="12700">
            <a:solidFill>
              <a:srgbClr val="0D7C7C"/>
            </a:solidFill>
            <a:prstDash val="solid"/>
          </a:ln>
        </p:spPr>
      </p:sp>
      <p:sp>
        <p:nvSpPr>
          <p:cNvPr id="6" name="Text 4"/>
          <p:cNvSpPr/>
          <p:nvPr/>
        </p:nvSpPr>
        <p:spPr>
          <a:xfrm>
            <a:off x="274320" y="594360"/>
            <a:ext cx="41605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SHAP Summary Plot — XGBoost</a:t>
            </a:r>
            <a:endParaRPr lang="en-US" sz="1100" dirty="0"/>
          </a:p>
        </p:txBody>
      </p:sp>
      <p:pic>
        <p:nvPicPr>
          <p:cNvPr id="7" name="Image 0" descr="preencoded.png"/>
          <p:cNvPicPr>
            <a:picLocks noChangeAspect="1"/>
          </p:cNvPicPr>
          <p:nvPr/>
        </p:nvPicPr>
        <p:blipFill>
          <a:blip r:embed="rId3"/>
          <a:srcRect/>
          <a:stretch/>
        </p:blipFill>
        <p:spPr>
          <a:xfrm>
            <a:off x="347472" y="969264"/>
            <a:ext cx="4014216" cy="3456432"/>
          </a:xfrm>
          <a:prstGeom prst="rect">
            <a:avLst/>
          </a:prstGeom>
        </p:spPr>
      </p:pic>
      <p:sp>
        <p:nvSpPr>
          <p:cNvPr id="8" name="Text 5"/>
          <p:cNvSpPr/>
          <p:nvPr/>
        </p:nvSpPr>
        <p:spPr>
          <a:xfrm>
            <a:off x="347472" y="4453128"/>
            <a:ext cx="4014216" cy="438912"/>
          </a:xfrm>
          <a:prstGeom prst="rect">
            <a:avLst/>
          </a:prstGeom>
          <a:noFill/>
          <a:ln/>
        </p:spPr>
        <p:txBody>
          <a:bodyPr wrap="square" lIns="50800" tIns="50800" rIns="50800" bIns="50800" rtlCol="0" anchor="t"/>
          <a:lstStyle/>
          <a:p>
            <a:pPr marL="0" indent="0" algn="l">
              <a:buNone/>
            </a:pPr>
            <a:r>
              <a:rPr lang="en-US" sz="800" i="1" dirty="0">
                <a:solidFill>
                  <a:srgbClr val="7FA8C0"/>
                </a:solidFill>
                <a:latin typeface="Calibri" pitchFamily="34" charset="0"/>
                <a:ea typeface="Calibri" pitchFamily="34" charset="-122"/>
                <a:cs typeface="Calibri" pitchFamily="34" charset="-120"/>
              </a:rPr>
              <a:t>Red = high feature value → non-dropout signal. Blue = low value → dropout risk. Approved 2nd-sem units is the dominant driver.</a:t>
            </a:r>
            <a:endParaRPr lang="en-US" sz="800" dirty="0"/>
          </a:p>
        </p:txBody>
      </p:sp>
      <p:sp>
        <p:nvSpPr>
          <p:cNvPr id="9" name="Shape 6"/>
          <p:cNvSpPr/>
          <p:nvPr/>
        </p:nvSpPr>
        <p:spPr>
          <a:xfrm>
            <a:off x="4663440" y="594360"/>
            <a:ext cx="4206240" cy="20574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0" name="Text 7"/>
          <p:cNvSpPr/>
          <p:nvPr/>
        </p:nvSpPr>
        <p:spPr>
          <a:xfrm>
            <a:off x="4754880" y="621792"/>
            <a:ext cx="4023360" cy="256032"/>
          </a:xfrm>
          <a:prstGeom prst="rect">
            <a:avLst/>
          </a:prstGeom>
          <a:noFill/>
          <a:ln/>
        </p:spPr>
        <p:txBody>
          <a:bodyPr wrap="square" lIns="50800" tIns="50800" rIns="50800" bIns="50800" rtlCol="0" anchor="t"/>
          <a:lstStyle/>
          <a:p>
            <a:pPr marL="0" indent="0" algn="l">
              <a:buNone/>
            </a:pPr>
            <a:r>
              <a:rPr lang="en-US" sz="1000" b="1" dirty="0">
                <a:solidFill>
                  <a:srgbClr val="F4A535"/>
                </a:solidFill>
                <a:latin typeface="Calibri" pitchFamily="34" charset="0"/>
                <a:ea typeface="Calibri" pitchFamily="34" charset="-122"/>
                <a:cs typeface="Calibri" pitchFamily="34" charset="-120"/>
              </a:rPr>
              <a:t>Gender: Actual vs Predicted Dropout Rate</a:t>
            </a:r>
            <a:endParaRPr lang="en-US" sz="1000" dirty="0"/>
          </a:p>
        </p:txBody>
      </p:sp>
      <p:pic>
        <p:nvPicPr>
          <p:cNvPr id="11" name="Image 1" descr="preencoded.png"/>
          <p:cNvPicPr>
            <a:picLocks noChangeAspect="1"/>
          </p:cNvPicPr>
          <p:nvPr/>
        </p:nvPicPr>
        <p:blipFill>
          <a:blip r:embed="rId4"/>
          <a:srcRect/>
          <a:stretch/>
        </p:blipFill>
        <p:spPr>
          <a:xfrm>
            <a:off x="4736592" y="896112"/>
            <a:ext cx="4059936" cy="1664208"/>
          </a:xfrm>
          <a:prstGeom prst="rect">
            <a:avLst/>
          </a:prstGeom>
        </p:spPr>
      </p:pic>
      <p:sp>
        <p:nvSpPr>
          <p:cNvPr id="12" name="Shape 8"/>
          <p:cNvSpPr/>
          <p:nvPr/>
        </p:nvSpPr>
        <p:spPr>
          <a:xfrm>
            <a:off x="4663440" y="2788920"/>
            <a:ext cx="4206240" cy="20574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3" name="Text 9"/>
          <p:cNvSpPr/>
          <p:nvPr/>
        </p:nvSpPr>
        <p:spPr>
          <a:xfrm>
            <a:off x="4754880" y="2816352"/>
            <a:ext cx="4023360" cy="256032"/>
          </a:xfrm>
          <a:prstGeom prst="rect">
            <a:avLst/>
          </a:prstGeom>
          <a:noFill/>
          <a:ln/>
        </p:spPr>
        <p:txBody>
          <a:bodyPr wrap="square" lIns="50800" tIns="50800" rIns="50800" bIns="50800" rtlCol="0" anchor="t"/>
          <a:lstStyle/>
          <a:p>
            <a:pPr marL="0" indent="0" algn="l">
              <a:buNone/>
            </a:pPr>
            <a:r>
              <a:rPr lang="en-US" sz="1000" b="1" dirty="0">
                <a:solidFill>
                  <a:srgbClr val="13A89E"/>
                </a:solidFill>
                <a:latin typeface="Calibri" pitchFamily="34" charset="0"/>
                <a:ea typeface="Calibri" pitchFamily="34" charset="-122"/>
                <a:cs typeface="Calibri" pitchFamily="34" charset="-120"/>
              </a:rPr>
              <a:t>Age Group: Actual vs Predicted Dropout Rate</a:t>
            </a:r>
            <a:endParaRPr lang="en-US" sz="1000" dirty="0"/>
          </a:p>
        </p:txBody>
      </p:sp>
      <p:pic>
        <p:nvPicPr>
          <p:cNvPr id="14" name="Image 2" descr="preencoded.png"/>
          <p:cNvPicPr>
            <a:picLocks noChangeAspect="1"/>
          </p:cNvPicPr>
          <p:nvPr/>
        </p:nvPicPr>
        <p:blipFill>
          <a:blip r:embed="rId5"/>
          <a:srcRect/>
          <a:stretch/>
        </p:blipFill>
        <p:spPr>
          <a:xfrm>
            <a:off x="4736592" y="3090672"/>
            <a:ext cx="4059936" cy="1664208"/>
          </a:xfrm>
          <a:prstGeom prst="rect">
            <a:avLst/>
          </a:prstGeom>
        </p:spPr>
      </p:pic>
      <p:sp>
        <p:nvSpPr>
          <p:cNvPr id="15" name="Shape 10"/>
          <p:cNvSpPr/>
          <p:nvPr/>
        </p:nvSpPr>
        <p:spPr>
          <a:xfrm>
            <a:off x="4663440" y="4892040"/>
            <a:ext cx="4206240" cy="201168"/>
          </a:xfrm>
          <a:prstGeom prst="rect">
            <a:avLst/>
          </a:prstGeom>
          <a:solidFill>
            <a:srgbClr val="162840"/>
          </a:solidFill>
          <a:ln w="7620">
            <a:solidFill>
              <a:srgbClr val="1DE9B6"/>
            </a:solidFill>
            <a:prstDash val="solid"/>
          </a:ln>
        </p:spPr>
      </p:sp>
      <p:sp>
        <p:nvSpPr>
          <p:cNvPr id="16" name="Text 11"/>
          <p:cNvSpPr/>
          <p:nvPr/>
        </p:nvSpPr>
        <p:spPr>
          <a:xfrm>
            <a:off x="4727448" y="4892040"/>
            <a:ext cx="4096512" cy="201168"/>
          </a:xfrm>
          <a:prstGeom prst="rect">
            <a:avLst/>
          </a:prstGeom>
          <a:noFill/>
          <a:ln/>
        </p:spPr>
        <p:txBody>
          <a:bodyPr wrap="square" lIns="50800" tIns="50800" rIns="50800" bIns="50800" rtlCol="0" anchor="ctr"/>
          <a:lstStyle/>
          <a:p>
            <a:pPr marL="0" indent="0" algn="l">
              <a:buNone/>
            </a:pPr>
            <a:r>
              <a:rPr lang="en-US" sz="700" i="1" dirty="0">
                <a:solidFill>
                  <a:srgbClr val="1DE9B6"/>
                </a:solidFill>
                <a:latin typeface="Calibri" pitchFamily="34" charset="0"/>
                <a:ea typeface="Calibri" pitchFamily="34" charset="-122"/>
                <a:cs typeface="Calibri" pitchFamily="34" charset="-120"/>
              </a:rPr>
              <a:t>Predicted rates track actual rates closely across all demographic groups — no amplification of existing disparities detected.</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Results &amp; Key Findings  XGBoost Selected as Final Deployment Model</a:t>
            </a:r>
            <a:endParaRPr lang="en-US" sz="1600" dirty="0"/>
          </a:p>
        </p:txBody>
      </p:sp>
      <p:sp>
        <p:nvSpPr>
          <p:cNvPr id="4" name="Shape 2"/>
          <p:cNvSpPr/>
          <p:nvPr/>
        </p:nvSpPr>
        <p:spPr>
          <a:xfrm>
            <a:off x="274320" y="594360"/>
            <a:ext cx="8595360" cy="512064"/>
          </a:xfrm>
          <a:prstGeom prst="rect">
            <a:avLst/>
          </a:prstGeom>
          <a:solidFill>
            <a:srgbClr val="0D7C7C"/>
          </a:solidFill>
          <a:ln w="12700">
            <a:solidFill>
              <a:srgbClr val="0D7C7C"/>
            </a:solidFill>
            <a:prstDash val="solid"/>
          </a:ln>
        </p:spPr>
      </p:sp>
      <p:sp>
        <p:nvSpPr>
          <p:cNvPr id="5" name="Text 3"/>
          <p:cNvSpPr/>
          <p:nvPr/>
        </p:nvSpPr>
        <p:spPr>
          <a:xfrm>
            <a:off x="274320" y="594360"/>
            <a:ext cx="8595360" cy="512064"/>
          </a:xfrm>
          <a:prstGeom prst="rect">
            <a:avLst/>
          </a:prstGeom>
          <a:noFill/>
          <a:ln/>
        </p:spPr>
        <p:txBody>
          <a:bodyPr wrap="square" lIns="0" tIns="0" rIns="0" bIns="0"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Best Model: XGBoost  |  Accuracy 88.2%  |  F1-Score 0.804  |  ROC-AUC 0.923</a:t>
            </a:r>
            <a:endParaRPr lang="en-US" sz="1450" dirty="0"/>
          </a:p>
        </p:txBody>
      </p:sp>
      <p:sp>
        <p:nvSpPr>
          <p:cNvPr id="6" name="Shape 4"/>
          <p:cNvSpPr/>
          <p:nvPr/>
        </p:nvSpPr>
        <p:spPr>
          <a:xfrm>
            <a:off x="274320" y="1188720"/>
            <a:ext cx="5029200" cy="3419856"/>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7" name="Text 5"/>
          <p:cNvSpPr/>
          <p:nvPr/>
        </p:nvSpPr>
        <p:spPr>
          <a:xfrm>
            <a:off x="274320" y="1175004"/>
            <a:ext cx="4809744" cy="195167"/>
          </a:xfrm>
          <a:prstGeom prst="rect">
            <a:avLst/>
          </a:prstGeom>
          <a:noFill/>
          <a:ln/>
        </p:spPr>
        <p:txBody>
          <a:bodyPr wrap="square" lIns="50800" tIns="50800" rIns="50800" bIns="50800" rtlCol="0" anchor="t"/>
          <a:lstStyle/>
          <a:p>
            <a:pPr marL="0" indent="0" algn="l">
              <a:buNone/>
            </a:pPr>
            <a:r>
              <a:rPr lang="en-US" sz="1050" b="1" dirty="0">
                <a:solidFill>
                  <a:srgbClr val="1DE9B6"/>
                </a:solidFill>
                <a:latin typeface="Calibri" pitchFamily="34" charset="0"/>
                <a:ea typeface="Calibri" pitchFamily="34" charset="-122"/>
                <a:cs typeface="Calibri" pitchFamily="34" charset="-120"/>
              </a:rPr>
              <a:t>Partial Dependence  Top 3 Features</a:t>
            </a:r>
            <a:endParaRPr lang="en-US" sz="1050" dirty="0"/>
          </a:p>
        </p:txBody>
      </p:sp>
      <p:pic>
        <p:nvPicPr>
          <p:cNvPr id="8" name="Image 0" descr="preencoded.png"/>
          <p:cNvPicPr>
            <a:picLocks noChangeAspect="1"/>
          </p:cNvPicPr>
          <p:nvPr/>
        </p:nvPicPr>
        <p:blipFill>
          <a:blip r:embed="rId3"/>
          <a:srcRect/>
          <a:stretch/>
        </p:blipFill>
        <p:spPr>
          <a:xfrm>
            <a:off x="347472" y="1411319"/>
            <a:ext cx="4882896" cy="2907792"/>
          </a:xfrm>
          <a:prstGeom prst="rect">
            <a:avLst/>
          </a:prstGeom>
        </p:spPr>
      </p:pic>
      <p:sp>
        <p:nvSpPr>
          <p:cNvPr id="9" name="Text 6"/>
          <p:cNvSpPr/>
          <p:nvPr/>
        </p:nvSpPr>
        <p:spPr>
          <a:xfrm>
            <a:off x="347472" y="4319111"/>
            <a:ext cx="4882896" cy="347472"/>
          </a:xfrm>
          <a:prstGeom prst="rect">
            <a:avLst/>
          </a:prstGeom>
          <a:noFill/>
          <a:ln/>
        </p:spPr>
        <p:txBody>
          <a:bodyPr wrap="square" lIns="50800" tIns="50800" rIns="50800" bIns="50800" rtlCol="0" anchor="t"/>
          <a:lstStyle/>
          <a:p>
            <a:pPr marL="0" indent="0" algn="l">
              <a:buNone/>
            </a:pPr>
            <a:r>
              <a:rPr lang="en-US" sz="600" i="1" dirty="0">
                <a:solidFill>
                  <a:srgbClr val="7FA8C0"/>
                </a:solidFill>
                <a:latin typeface="Calibri" pitchFamily="34" charset="0"/>
                <a:ea typeface="Calibri" pitchFamily="34" charset="-122"/>
                <a:cs typeface="Calibri" pitchFamily="34" charset="-120"/>
              </a:rPr>
              <a:t>Fig 9: Dropout probability drops from 0.72 to below 0.20 as approved 2nd-sem units rise from 0 to 5+. Monotonic relationships confirm coherent model</a:t>
            </a:r>
            <a:r>
              <a:rPr lang="en-US" sz="800" i="1" dirty="0">
                <a:solidFill>
                  <a:srgbClr val="7FA8C0"/>
                </a:solidFill>
                <a:latin typeface="Calibri" pitchFamily="34" charset="0"/>
                <a:ea typeface="Calibri" pitchFamily="34" charset="-122"/>
                <a:cs typeface="Calibri" pitchFamily="34" charset="-120"/>
              </a:rPr>
              <a:t> </a:t>
            </a:r>
            <a:r>
              <a:rPr lang="en-US" sz="600" i="1" dirty="0">
                <a:solidFill>
                  <a:srgbClr val="7FA8C0"/>
                </a:solidFill>
                <a:latin typeface="Calibri" pitchFamily="34" charset="0"/>
                <a:ea typeface="Calibri" pitchFamily="34" charset="-122"/>
                <a:cs typeface="Calibri" pitchFamily="34" charset="-120"/>
              </a:rPr>
              <a:t>behaviour.</a:t>
            </a:r>
            <a:endParaRPr lang="en-US" sz="800" dirty="0"/>
          </a:p>
        </p:txBody>
      </p:sp>
      <p:sp>
        <p:nvSpPr>
          <p:cNvPr id="10" name="Shape 7"/>
          <p:cNvSpPr/>
          <p:nvPr/>
        </p:nvSpPr>
        <p:spPr>
          <a:xfrm>
            <a:off x="5532120" y="1188720"/>
            <a:ext cx="3337560" cy="333756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Text 8"/>
          <p:cNvSpPr/>
          <p:nvPr/>
        </p:nvSpPr>
        <p:spPr>
          <a:xfrm>
            <a:off x="5623560" y="1216152"/>
            <a:ext cx="3154680" cy="320040"/>
          </a:xfrm>
          <a:prstGeom prst="rect">
            <a:avLst/>
          </a:prstGeom>
          <a:noFill/>
          <a:ln/>
        </p:spPr>
        <p:txBody>
          <a:bodyPr wrap="square" lIns="50800" tIns="50800" rIns="50800" bIns="50800" rtlCol="0" anchor="t"/>
          <a:lstStyle/>
          <a:p>
            <a:pPr marL="0" indent="0" algn="l">
              <a:buNone/>
            </a:pPr>
            <a:r>
              <a:rPr lang="en-US" sz="1200" b="1" dirty="0">
                <a:solidFill>
                  <a:srgbClr val="1DE9B6"/>
                </a:solidFill>
                <a:latin typeface="Calibri" pitchFamily="34" charset="0"/>
                <a:ea typeface="Calibri" pitchFamily="34" charset="-122"/>
                <a:cs typeface="Calibri" pitchFamily="34" charset="-120"/>
              </a:rPr>
              <a:t>Why XGBoost Outperforms</a:t>
            </a:r>
            <a:endParaRPr lang="en-US" sz="1200" dirty="0"/>
          </a:p>
        </p:txBody>
      </p:sp>
      <p:sp>
        <p:nvSpPr>
          <p:cNvPr id="12" name="Shape 9"/>
          <p:cNvSpPr/>
          <p:nvPr/>
        </p:nvSpPr>
        <p:spPr>
          <a:xfrm>
            <a:off x="5623560" y="1627632"/>
            <a:ext cx="3154680" cy="868680"/>
          </a:xfrm>
          <a:prstGeom prst="rect">
            <a:avLst/>
          </a:prstGeom>
          <a:solidFill>
            <a:srgbClr val="162840"/>
          </a:solidFill>
          <a:ln w="8890">
            <a:solidFill>
              <a:srgbClr val="1DE9B6"/>
            </a:solidFill>
            <a:prstDash val="solid"/>
          </a:ln>
        </p:spPr>
      </p:sp>
      <p:sp>
        <p:nvSpPr>
          <p:cNvPr id="13" name="Shape 10"/>
          <p:cNvSpPr/>
          <p:nvPr/>
        </p:nvSpPr>
        <p:spPr>
          <a:xfrm>
            <a:off x="5623560" y="1627632"/>
            <a:ext cx="64008" cy="868680"/>
          </a:xfrm>
          <a:prstGeom prst="rect">
            <a:avLst/>
          </a:prstGeom>
          <a:solidFill>
            <a:srgbClr val="1DE9B6"/>
          </a:solidFill>
          <a:ln w="12700">
            <a:solidFill>
              <a:srgbClr val="1DE9B6"/>
            </a:solidFill>
            <a:prstDash val="solid"/>
          </a:ln>
        </p:spPr>
      </p:sp>
      <p:sp>
        <p:nvSpPr>
          <p:cNvPr id="14" name="Text 11"/>
          <p:cNvSpPr/>
          <p:nvPr/>
        </p:nvSpPr>
        <p:spPr>
          <a:xfrm>
            <a:off x="5742432" y="1673352"/>
            <a:ext cx="2944368" cy="274320"/>
          </a:xfrm>
          <a:prstGeom prst="rect">
            <a:avLst/>
          </a:prstGeom>
          <a:noFill/>
          <a:ln/>
        </p:spPr>
        <p:txBody>
          <a:bodyPr wrap="square" lIns="50800" tIns="50800" rIns="50800" bIns="50800" rtlCol="0" anchor="t"/>
          <a:lstStyle/>
          <a:p>
            <a:pPr marL="0" indent="0" algn="l">
              <a:buNone/>
            </a:pPr>
            <a:r>
              <a:rPr lang="en-US" sz="1050" b="1" dirty="0">
                <a:solidFill>
                  <a:srgbClr val="1DE9B6"/>
                </a:solidFill>
                <a:latin typeface="Calibri" pitchFamily="34" charset="0"/>
                <a:ea typeface="Calibri" pitchFamily="34" charset="-122"/>
                <a:cs typeface="Calibri" pitchFamily="34" charset="-120"/>
              </a:rPr>
              <a:t>Nonlinear interactions</a:t>
            </a:r>
            <a:endParaRPr lang="en-US" sz="1050" dirty="0"/>
          </a:p>
        </p:txBody>
      </p:sp>
      <p:sp>
        <p:nvSpPr>
          <p:cNvPr id="15" name="Text 12"/>
          <p:cNvSpPr/>
          <p:nvPr/>
        </p:nvSpPr>
        <p:spPr>
          <a:xfrm>
            <a:off x="5742432" y="1975104"/>
            <a:ext cx="2944368" cy="475488"/>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Low grades + unpaid fees together predict dropout more strongly than either feature alone — something linear models miss.</a:t>
            </a:r>
            <a:endParaRPr lang="en-US" sz="950" dirty="0"/>
          </a:p>
        </p:txBody>
      </p:sp>
      <p:sp>
        <p:nvSpPr>
          <p:cNvPr id="16" name="Shape 13"/>
          <p:cNvSpPr/>
          <p:nvPr/>
        </p:nvSpPr>
        <p:spPr>
          <a:xfrm>
            <a:off x="5623560" y="2633472"/>
            <a:ext cx="3154680" cy="868680"/>
          </a:xfrm>
          <a:prstGeom prst="rect">
            <a:avLst/>
          </a:prstGeom>
          <a:solidFill>
            <a:srgbClr val="162840"/>
          </a:solidFill>
          <a:ln w="8890">
            <a:solidFill>
              <a:srgbClr val="0D7C7C"/>
            </a:solidFill>
            <a:prstDash val="solid"/>
          </a:ln>
        </p:spPr>
      </p:sp>
      <p:sp>
        <p:nvSpPr>
          <p:cNvPr id="17" name="Shape 14"/>
          <p:cNvSpPr/>
          <p:nvPr/>
        </p:nvSpPr>
        <p:spPr>
          <a:xfrm>
            <a:off x="5623560" y="2633472"/>
            <a:ext cx="64008" cy="868680"/>
          </a:xfrm>
          <a:prstGeom prst="rect">
            <a:avLst/>
          </a:prstGeom>
          <a:solidFill>
            <a:srgbClr val="0D7C7C"/>
          </a:solidFill>
          <a:ln w="12700">
            <a:solidFill>
              <a:srgbClr val="0D7C7C"/>
            </a:solidFill>
            <a:prstDash val="solid"/>
          </a:ln>
        </p:spPr>
      </p:sp>
      <p:sp>
        <p:nvSpPr>
          <p:cNvPr id="18" name="Text 15"/>
          <p:cNvSpPr/>
          <p:nvPr/>
        </p:nvSpPr>
        <p:spPr>
          <a:xfrm>
            <a:off x="5742432" y="2679192"/>
            <a:ext cx="2944368" cy="274320"/>
          </a:xfrm>
          <a:prstGeom prst="rect">
            <a:avLst/>
          </a:prstGeom>
          <a:noFill/>
          <a:ln/>
        </p:spPr>
        <p:txBody>
          <a:bodyPr wrap="square" lIns="50800" tIns="50800" rIns="50800" bIns="50800" rtlCol="0" anchor="t"/>
          <a:lstStyle/>
          <a:p>
            <a:pPr marL="0" indent="0" algn="l">
              <a:buNone/>
            </a:pPr>
            <a:r>
              <a:rPr lang="en-US" sz="1050" b="1" dirty="0">
                <a:solidFill>
                  <a:srgbClr val="0D7C7C"/>
                </a:solidFill>
                <a:latin typeface="Calibri" pitchFamily="34" charset="0"/>
                <a:ea typeface="Calibri" pitchFamily="34" charset="-122"/>
                <a:cs typeface="Calibri" pitchFamily="34" charset="-120"/>
              </a:rPr>
              <a:t>Sequential error correction</a:t>
            </a:r>
            <a:endParaRPr lang="en-US" sz="1050" dirty="0"/>
          </a:p>
        </p:txBody>
      </p:sp>
      <p:sp>
        <p:nvSpPr>
          <p:cNvPr id="19" name="Text 16"/>
          <p:cNvSpPr/>
          <p:nvPr/>
        </p:nvSpPr>
        <p:spPr>
          <a:xfrm>
            <a:off x="5742432" y="2980944"/>
            <a:ext cx="2944368" cy="475488"/>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Each boosting iteration targets the residual errors of the previous ensemble, converging on hard-to-classify boundary cases.</a:t>
            </a:r>
            <a:endParaRPr lang="en-US" sz="950" dirty="0"/>
          </a:p>
        </p:txBody>
      </p:sp>
      <p:sp>
        <p:nvSpPr>
          <p:cNvPr id="20" name="Shape 17"/>
          <p:cNvSpPr/>
          <p:nvPr/>
        </p:nvSpPr>
        <p:spPr>
          <a:xfrm>
            <a:off x="5623560" y="3639312"/>
            <a:ext cx="3154680" cy="868680"/>
          </a:xfrm>
          <a:prstGeom prst="rect">
            <a:avLst/>
          </a:prstGeom>
          <a:solidFill>
            <a:srgbClr val="162840"/>
          </a:solidFill>
          <a:ln w="8890">
            <a:solidFill>
              <a:srgbClr val="F4A535"/>
            </a:solidFill>
            <a:prstDash val="solid"/>
          </a:ln>
        </p:spPr>
      </p:sp>
      <p:sp>
        <p:nvSpPr>
          <p:cNvPr id="21" name="Shape 18"/>
          <p:cNvSpPr/>
          <p:nvPr/>
        </p:nvSpPr>
        <p:spPr>
          <a:xfrm>
            <a:off x="5623560" y="3639312"/>
            <a:ext cx="64008" cy="868680"/>
          </a:xfrm>
          <a:prstGeom prst="rect">
            <a:avLst/>
          </a:prstGeom>
          <a:solidFill>
            <a:srgbClr val="F4A535"/>
          </a:solidFill>
          <a:ln w="12700">
            <a:solidFill>
              <a:srgbClr val="F4A535"/>
            </a:solidFill>
            <a:prstDash val="solid"/>
          </a:ln>
        </p:spPr>
      </p:sp>
      <p:sp>
        <p:nvSpPr>
          <p:cNvPr id="22" name="Text 19"/>
          <p:cNvSpPr/>
          <p:nvPr/>
        </p:nvSpPr>
        <p:spPr>
          <a:xfrm>
            <a:off x="5742432" y="3685032"/>
            <a:ext cx="2944368" cy="274320"/>
          </a:xfrm>
          <a:prstGeom prst="rect">
            <a:avLst/>
          </a:prstGeom>
          <a:noFill/>
          <a:ln/>
        </p:spPr>
        <p:txBody>
          <a:bodyPr wrap="square" lIns="50800" tIns="50800" rIns="50800" bIns="50800" rtlCol="0" anchor="t"/>
          <a:lstStyle/>
          <a:p>
            <a:pPr marL="0" indent="0" algn="l">
              <a:buNone/>
            </a:pPr>
            <a:r>
              <a:rPr lang="en-US" sz="1050" b="1" dirty="0">
                <a:solidFill>
                  <a:srgbClr val="F4A535"/>
                </a:solidFill>
                <a:latin typeface="Calibri" pitchFamily="34" charset="0"/>
                <a:ea typeface="Calibri" pitchFamily="34" charset="-122"/>
                <a:cs typeface="Calibri" pitchFamily="34" charset="-120"/>
              </a:rPr>
              <a:t>L1/L2 regularisation</a:t>
            </a:r>
            <a:endParaRPr lang="en-US" sz="1050" dirty="0"/>
          </a:p>
        </p:txBody>
      </p:sp>
      <p:sp>
        <p:nvSpPr>
          <p:cNvPr id="23" name="Text 20"/>
          <p:cNvSpPr/>
          <p:nvPr/>
        </p:nvSpPr>
        <p:spPr>
          <a:xfrm>
            <a:off x="5742432" y="3986784"/>
            <a:ext cx="2944368" cy="475488"/>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Penalises model complexity, reducing overfitting to the training cohort and improving generalisability.</a:t>
            </a:r>
            <a:endParaRPr lang="en-US" sz="950" dirty="0"/>
          </a:p>
        </p:txBody>
      </p:sp>
      <p:sp>
        <p:nvSpPr>
          <p:cNvPr id="24" name="Shape 21"/>
          <p:cNvSpPr/>
          <p:nvPr/>
        </p:nvSpPr>
        <p:spPr>
          <a:xfrm>
            <a:off x="274320" y="4590288"/>
            <a:ext cx="8595360" cy="466344"/>
          </a:xfrm>
          <a:prstGeom prst="rect">
            <a:avLst/>
          </a:prstGeom>
          <a:solidFill>
            <a:srgbClr val="162840"/>
          </a:solidFill>
          <a:ln w="8890">
            <a:solidFill>
              <a:srgbClr val="0D7C7C"/>
            </a:solidFill>
            <a:prstDash val="solid"/>
          </a:ln>
          <a:effectLst>
            <a:outerShdw blurRad="101600" dist="38100" dir="8100000" algn="bl" rotWithShape="0">
              <a:srgbClr val="000000">
                <a:alpha val="28000"/>
              </a:srgbClr>
            </a:outerShdw>
          </a:effectLst>
        </p:spPr>
      </p:sp>
      <p:sp>
        <p:nvSpPr>
          <p:cNvPr id="25" name="Text 22"/>
          <p:cNvSpPr/>
          <p:nvPr/>
        </p:nvSpPr>
        <p:spPr>
          <a:xfrm>
            <a:off x="365760" y="4608576"/>
            <a:ext cx="8412480" cy="429768"/>
          </a:xfrm>
          <a:prstGeom prst="rect">
            <a:avLst/>
          </a:prstGeom>
          <a:noFill/>
          <a:ln/>
        </p:spPr>
        <p:txBody>
          <a:bodyPr wrap="square" lIns="50800" tIns="50800" rIns="50800" bIns="50800" rtlCol="0" anchor="t"/>
          <a:lstStyle/>
          <a:p>
            <a:pPr marL="0" indent="0" algn="l">
              <a:buNone/>
            </a:pPr>
            <a:r>
              <a:rPr lang="en-US" sz="950" i="1" dirty="0">
                <a:solidFill>
                  <a:srgbClr val="7FA8C0"/>
                </a:solidFill>
                <a:latin typeface="Calibri" pitchFamily="34" charset="0"/>
                <a:ea typeface="Calibri" pitchFamily="34" charset="-122"/>
                <a:cs typeface="Calibri" pitchFamily="34" charset="-120"/>
              </a:rPr>
              <a:t>All ensemble models cluster between 0.871–0.882 accuracy; Decision Tree lags at 0.805, confirming that ensemble diversity adds real value over individual trees.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mn-cs"/>
              </a:rPr>
              <a:t>Model Deployment Using Flask</a:t>
            </a:r>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1DE9B6"/>
                </a:solidFill>
                <a:effectLst/>
                <a:uLnTx/>
                <a:uFillTx/>
                <a:latin typeface="Calibri" pitchFamily="34" charset="0"/>
                <a:ea typeface="+mn-ea"/>
                <a:cs typeface="+mn-cs"/>
              </a:rPr>
              <a:t>Serving the trained XGBoost model through a lightweight web application for institutional use</a:t>
            </a:r>
          </a:p>
        </p:txBody>
      </p:sp>
      <p:sp>
        <p:nvSpPr>
          <p:cNvPr id="5" name="Shape R1"/>
          <p:cNvSpPr/>
          <p:nvPr/>
        </p:nvSpPr>
        <p:spPr>
          <a:xfrm>
            <a:off x="274320" y="730000"/>
            <a:ext cx="8595360" cy="76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Shape R1A"/>
          <p:cNvSpPr/>
          <p:nvPr/>
        </p:nvSpPr>
        <p:spPr>
          <a:xfrm>
            <a:off x="274320" y="730000"/>
            <a:ext cx="1554480" cy="760000"/>
          </a:xfrm>
          <a:prstGeom prst="rect">
            <a:avLst/>
          </a:prstGeom>
          <a:solidFill>
            <a:srgbClr val="7FA8C0"/>
          </a:solidFill>
          <a:ln w="12700">
            <a:solidFill>
              <a:srgbClr val="7FA8C0"/>
            </a:solidFill>
            <a:prstDash val="solid"/>
          </a:ln>
        </p:spPr>
      </p:sp>
      <p:sp>
        <p:nvSpPr>
          <p:cNvPr id="7" name="Text R1Tag"/>
          <p:cNvSpPr/>
          <p:nvPr/>
        </p:nvSpPr>
        <p:spPr>
          <a:xfrm>
            <a:off x="274320" y="940000"/>
            <a:ext cx="1554480" cy="3300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71221"/>
                </a:solidFill>
                <a:effectLst/>
                <a:uLnTx/>
                <a:uFillTx/>
                <a:latin typeface="Calibri" pitchFamily="34" charset="0"/>
                <a:ea typeface="+mn-ea"/>
                <a:cs typeface="+mn-cs"/>
              </a:rPr>
              <a:t>Model Load</a:t>
            </a:r>
          </a:p>
        </p:txBody>
      </p:sp>
      <p:sp>
        <p:nvSpPr>
          <p:cNvPr id="8" name="Text R1Title"/>
          <p:cNvSpPr/>
          <p:nvPr/>
        </p:nvSpPr>
        <p:spPr>
          <a:xfrm>
            <a:off x="1965960" y="76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FA8C0"/>
                </a:solidFill>
                <a:effectLst/>
                <a:uLnTx/>
                <a:uFillTx/>
                <a:latin typeface="Calibri" pitchFamily="34" charset="0"/>
                <a:ea typeface="+mn-ea"/>
                <a:cs typeface="+mn-cs"/>
              </a:rPr>
              <a:t>Trained Model Integration</a:t>
            </a:r>
          </a:p>
        </p:txBody>
      </p:sp>
      <p:sp>
        <p:nvSpPr>
          <p:cNvPr id="9" name="Text R1Desc"/>
          <p:cNvSpPr/>
          <p:nvPr/>
        </p:nvSpPr>
        <p:spPr>
          <a:xfrm>
            <a:off x="1965960" y="1085000"/>
            <a:ext cx="672084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The serialised XGBoost pipeline (model + StandardScaler) is loaded into Flask at server startup, eliminating per-request initialisation overhead and ensuring consistent preprocessing.</a:t>
            </a:r>
          </a:p>
        </p:txBody>
      </p:sp>
      <p:sp>
        <p:nvSpPr>
          <p:cNvPr id="10" name="Shape R2"/>
          <p:cNvSpPr/>
          <p:nvPr/>
        </p:nvSpPr>
        <p:spPr>
          <a:xfrm>
            <a:off x="274320" y="1560000"/>
            <a:ext cx="8595360" cy="76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Shape R2A"/>
          <p:cNvSpPr/>
          <p:nvPr/>
        </p:nvSpPr>
        <p:spPr>
          <a:xfrm>
            <a:off x="274320" y="1560000"/>
            <a:ext cx="1554480" cy="760000"/>
          </a:xfrm>
          <a:prstGeom prst="rect">
            <a:avLst/>
          </a:prstGeom>
          <a:solidFill>
            <a:srgbClr val="13A89E"/>
          </a:solidFill>
          <a:ln w="12700">
            <a:solidFill>
              <a:srgbClr val="13A89E"/>
            </a:solidFill>
            <a:prstDash val="solid"/>
          </a:ln>
        </p:spPr>
      </p:sp>
      <p:sp>
        <p:nvSpPr>
          <p:cNvPr id="12" name="Text R2Tag"/>
          <p:cNvSpPr/>
          <p:nvPr/>
        </p:nvSpPr>
        <p:spPr>
          <a:xfrm>
            <a:off x="274320" y="1770000"/>
            <a:ext cx="1554480" cy="3300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71221"/>
                </a:solidFill>
                <a:effectLst/>
                <a:uLnTx/>
                <a:uFillTx/>
                <a:latin typeface="Calibri" pitchFamily="34" charset="0"/>
                <a:ea typeface="+mn-ea"/>
                <a:cs typeface="+mn-cs"/>
              </a:rPr>
              <a:t>Input</a:t>
            </a:r>
          </a:p>
        </p:txBody>
      </p:sp>
      <p:sp>
        <p:nvSpPr>
          <p:cNvPr id="13" name="Text R2Title"/>
          <p:cNvSpPr/>
          <p:nvPr/>
        </p:nvSpPr>
        <p:spPr>
          <a:xfrm>
            <a:off x="1965960" y="159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3A89E"/>
                </a:solidFill>
                <a:effectLst/>
                <a:uLnTx/>
                <a:uFillTx/>
                <a:latin typeface="Calibri" pitchFamily="34" charset="0"/>
                <a:ea typeface="+mn-ea"/>
                <a:cs typeface="+mn-cs"/>
              </a:rPr>
              <a:t>Web Form Data Collection</a:t>
            </a:r>
          </a:p>
        </p:txBody>
      </p:sp>
      <p:sp>
        <p:nvSpPr>
          <p:cNvPr id="14" name="Text R2Desc"/>
          <p:cNvSpPr/>
          <p:nvPr/>
        </p:nvSpPr>
        <p:spPr>
          <a:xfrm>
            <a:off x="1965960" y="1915000"/>
            <a:ext cx="672084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The HTML interface captures 20 student attributes across four domains. Form data is submitted as an HTTP POST request to the Flask route handler for processing.</a:t>
            </a:r>
          </a:p>
        </p:txBody>
      </p:sp>
      <p:sp>
        <p:nvSpPr>
          <p:cNvPr id="15" name="Shape R3"/>
          <p:cNvSpPr/>
          <p:nvPr/>
        </p:nvSpPr>
        <p:spPr>
          <a:xfrm>
            <a:off x="274320" y="2390000"/>
            <a:ext cx="8595360" cy="76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6" name="Shape R3A"/>
          <p:cNvSpPr/>
          <p:nvPr/>
        </p:nvSpPr>
        <p:spPr>
          <a:xfrm>
            <a:off x="274320" y="2390000"/>
            <a:ext cx="1554480" cy="760000"/>
          </a:xfrm>
          <a:prstGeom prst="rect">
            <a:avLst/>
          </a:prstGeom>
          <a:solidFill>
            <a:srgbClr val="0D7C7C"/>
          </a:solidFill>
          <a:ln w="12700">
            <a:solidFill>
              <a:srgbClr val="0D7C7C"/>
            </a:solidFill>
            <a:prstDash val="solid"/>
          </a:ln>
        </p:spPr>
      </p:sp>
      <p:sp>
        <p:nvSpPr>
          <p:cNvPr id="17" name="Text R3Tag"/>
          <p:cNvSpPr/>
          <p:nvPr/>
        </p:nvSpPr>
        <p:spPr>
          <a:xfrm>
            <a:off x="274320" y="2600000"/>
            <a:ext cx="1554480" cy="3300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71221"/>
                </a:solidFill>
                <a:effectLst/>
                <a:uLnTx/>
                <a:uFillTx/>
                <a:latin typeface="Calibri" pitchFamily="34" charset="0"/>
                <a:ea typeface="+mn-ea"/>
                <a:cs typeface="+mn-cs"/>
              </a:rPr>
              <a:t>Inference</a:t>
            </a:r>
          </a:p>
        </p:txBody>
      </p:sp>
      <p:sp>
        <p:nvSpPr>
          <p:cNvPr id="18" name="Text R3Title"/>
          <p:cNvSpPr/>
          <p:nvPr/>
        </p:nvSpPr>
        <p:spPr>
          <a:xfrm>
            <a:off x="1965960" y="242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D7C7C"/>
                </a:solidFill>
                <a:effectLst/>
                <a:uLnTx/>
                <a:uFillTx/>
                <a:latin typeface="Calibri" pitchFamily="34" charset="0"/>
                <a:ea typeface="+mn-ea"/>
                <a:cs typeface="+mn-cs"/>
              </a:rPr>
              <a:t>Model Inference and Prediction</a:t>
            </a:r>
          </a:p>
        </p:txBody>
      </p:sp>
      <p:sp>
        <p:nvSpPr>
          <p:cNvPr id="19" name="Text R3Desc"/>
          <p:cNvSpPr/>
          <p:nvPr/>
        </p:nvSpPr>
        <p:spPr>
          <a:xfrm>
            <a:off x="1965960" y="2745000"/>
            <a:ext cx="672084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Flask passes the parsed feature vector to the loaded XGBoost pipeline. The model applies the stored StandardScaler transform before generating a binary dropout prediction and probability score.</a:t>
            </a:r>
          </a:p>
        </p:txBody>
      </p:sp>
      <p:sp>
        <p:nvSpPr>
          <p:cNvPr id="20" name="Shape R4"/>
          <p:cNvSpPr/>
          <p:nvPr/>
        </p:nvSpPr>
        <p:spPr>
          <a:xfrm>
            <a:off x="274320" y="3220000"/>
            <a:ext cx="8595360" cy="76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1" name="Shape R4A"/>
          <p:cNvSpPr/>
          <p:nvPr/>
        </p:nvSpPr>
        <p:spPr>
          <a:xfrm>
            <a:off x="274320" y="3220000"/>
            <a:ext cx="1554480" cy="760000"/>
          </a:xfrm>
          <a:prstGeom prst="rect">
            <a:avLst/>
          </a:prstGeom>
          <a:solidFill>
            <a:srgbClr val="1DE9B6"/>
          </a:solidFill>
          <a:ln w="12700">
            <a:solidFill>
              <a:srgbClr val="1DE9B6"/>
            </a:solidFill>
            <a:prstDash val="solid"/>
          </a:ln>
        </p:spPr>
      </p:sp>
      <p:sp>
        <p:nvSpPr>
          <p:cNvPr id="22" name="Text R4Tag"/>
          <p:cNvSpPr/>
          <p:nvPr/>
        </p:nvSpPr>
        <p:spPr>
          <a:xfrm>
            <a:off x="274320" y="3430000"/>
            <a:ext cx="1554480" cy="3300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71221"/>
                </a:solidFill>
                <a:effectLst/>
                <a:uLnTx/>
                <a:uFillTx/>
                <a:latin typeface="Calibri" pitchFamily="34" charset="0"/>
                <a:ea typeface="+mn-ea"/>
                <a:cs typeface="+mn-cs"/>
              </a:rPr>
              <a:t>Output</a:t>
            </a:r>
          </a:p>
        </p:txBody>
      </p:sp>
      <p:sp>
        <p:nvSpPr>
          <p:cNvPr id="23" name="Text R4Title"/>
          <p:cNvSpPr/>
          <p:nvPr/>
        </p:nvSpPr>
        <p:spPr>
          <a:xfrm>
            <a:off x="1965960" y="325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DE9B6"/>
                </a:solidFill>
                <a:effectLst/>
                <a:uLnTx/>
                <a:uFillTx/>
                <a:latin typeface="Calibri" pitchFamily="34" charset="0"/>
                <a:ea typeface="+mn-ea"/>
                <a:cs typeface="+mn-cs"/>
              </a:rPr>
              <a:t>Result Returned to Interface</a:t>
            </a:r>
          </a:p>
        </p:txBody>
      </p:sp>
      <p:sp>
        <p:nvSpPr>
          <p:cNvPr id="24" name="Text R4Desc"/>
          <p:cNvSpPr/>
          <p:nvPr/>
        </p:nvSpPr>
        <p:spPr>
          <a:xfrm>
            <a:off x="1965960" y="3575000"/>
            <a:ext cx="672084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The predicted risk label (Dropout / No Risk) and associated probability are rendered dynamically on the results page and surfaced to the end user without page reload.</a:t>
            </a:r>
          </a:p>
        </p:txBody>
      </p:sp>
      <p:sp>
        <p:nvSpPr>
          <p:cNvPr id="25" name="Shape Banner"/>
          <p:cNvSpPr/>
          <p:nvPr/>
        </p:nvSpPr>
        <p:spPr>
          <a:xfrm>
            <a:off x="274320" y="4100000"/>
            <a:ext cx="8595360" cy="620000"/>
          </a:xfrm>
          <a:prstGeom prst="rect">
            <a:avLst/>
          </a:prstGeom>
          <a:solidFill>
            <a:srgbClr val="071221"/>
          </a:solidFill>
          <a:ln w="19050">
            <a:solidFill>
              <a:srgbClr val="1DE9B6"/>
            </a:solidFill>
            <a:prstDash val="solid"/>
          </a:ln>
        </p:spPr>
      </p:sp>
      <p:sp>
        <p:nvSpPr>
          <p:cNvPr id="26" name="Text Banner"/>
          <p:cNvSpPr/>
          <p:nvPr/>
        </p:nvSpPr>
        <p:spPr>
          <a:xfrm>
            <a:off x="274320" y="4100000"/>
            <a:ext cx="8595360" cy="620000"/>
          </a:xfrm>
          <a:prstGeom prst="rect">
            <a:avLst/>
          </a:prstGeom>
          <a:noFill/>
          <a:ln/>
        </p:spPr>
        <p:txBody>
          <a:bodyPr wrap="square" lIns="114300" tIns="0" rIns="1143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DE9B6"/>
                </a:solidFill>
                <a:effectLst/>
                <a:uLnTx/>
                <a:uFillTx/>
                <a:latin typeface="Calibri" pitchFamily="34" charset="0"/>
                <a:ea typeface="+mn-ea"/>
                <a:cs typeface="+mn-cs"/>
              </a:rPr>
              <a:t>User Input  </a:t>
            </a:r>
            <a:r>
              <a:rPr kumimoji="0" lang="en-US" sz="1000" b="0" i="0" u="none" strike="noStrike" kern="1200" cap="none" spc="0" normalizeH="0" baseline="0" noProof="0" dirty="0">
                <a:ln>
                  <a:noFill/>
                </a:ln>
                <a:solidFill>
                  <a:srgbClr val="7FA8C0"/>
                </a:solidFill>
                <a:effectLst/>
                <a:uLnTx/>
                <a:uFillTx/>
                <a:latin typeface="Calibri" pitchFamily="34" charset="0"/>
                <a:ea typeface="+mn-ea"/>
                <a:cs typeface="+mn-cs"/>
              </a:rPr>
              <a:t>→  Flask Web Application  →  Trained XGBoost Model  →  </a:t>
            </a:r>
            <a:r>
              <a:rPr kumimoji="0" lang="en-US" sz="1000" b="1" i="0" u="none" strike="noStrike" kern="1200" cap="none" spc="0" normalizeH="0" baseline="0" noProof="0" dirty="0">
                <a:ln>
                  <a:noFill/>
                </a:ln>
                <a:solidFill>
                  <a:srgbClr val="1DE9B6"/>
                </a:solidFill>
                <a:effectLst/>
                <a:uLnTx/>
                <a:uFillTx/>
                <a:latin typeface="Calibri" pitchFamily="34" charset="0"/>
                <a:ea typeface="+mn-ea"/>
                <a:cs typeface="+mn-cs"/>
              </a:rPr>
              <a:t>Prediction Output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mn-cs"/>
              </a:rPr>
              <a:t>Web Application Interface</a:t>
            </a:r>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1DE9B6"/>
                </a:solidFill>
                <a:effectLst/>
                <a:uLnTx/>
                <a:uFillTx/>
                <a:latin typeface="Calibri" pitchFamily="34" charset="0"/>
                <a:ea typeface="+mn-ea"/>
                <a:cs typeface="+mn-cs"/>
              </a:rPr>
              <a:t>A structured HTML form enabling advisors to submit student profiles and receive real-time dropout risk predictions</a:t>
            </a:r>
          </a:p>
        </p:txBody>
      </p:sp>
      <p:sp>
        <p:nvSpPr>
          <p:cNvPr id="5" name="Shape Left"/>
          <p:cNvSpPr/>
          <p:nvPr/>
        </p:nvSpPr>
        <p:spPr>
          <a:xfrm>
            <a:off x="274320" y="750000"/>
            <a:ext cx="4200000" cy="409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Text LHead1"/>
          <p:cNvSpPr/>
          <p:nvPr/>
        </p:nvSpPr>
        <p:spPr>
          <a:xfrm>
            <a:off x="365760" y="810000"/>
            <a:ext cx="396000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FA8C0"/>
                </a:solidFill>
                <a:effectLst/>
                <a:uLnTx/>
                <a:uFillTx/>
                <a:latin typeface="Calibri" pitchFamily="34" charset="0"/>
                <a:ea typeface="+mn-ea"/>
                <a:cs typeface="+mn-cs"/>
              </a:rPr>
              <a:t>Input Fields</a:t>
            </a:r>
          </a:p>
        </p:txBody>
      </p:sp>
      <p:sp>
        <p:nvSpPr>
          <p:cNvPr id="7" name="Text LBody1"/>
          <p:cNvSpPr/>
          <p:nvPr/>
        </p:nvSpPr>
        <p:spPr>
          <a:xfrm>
            <a:off x="365760" y="1120000"/>
            <a:ext cx="3960000" cy="68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Grouped into four sections: Student Details (age, grades, prior qualification), Semester Performance (units, grades, evaluations), Enrollment Details (course, application mode), and Family Background (parental occupation and qualification).</a:t>
            </a:r>
          </a:p>
        </p:txBody>
      </p:sp>
      <p:sp>
        <p:nvSpPr>
          <p:cNvPr id="8" name="Text LHead2"/>
          <p:cNvSpPr/>
          <p:nvPr/>
        </p:nvSpPr>
        <p:spPr>
          <a:xfrm>
            <a:off x="365760" y="1870000"/>
            <a:ext cx="396000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3A89E"/>
                </a:solidFill>
                <a:effectLst/>
                <a:uLnTx/>
                <a:uFillTx/>
                <a:latin typeface="Calibri" pitchFamily="34" charset="0"/>
                <a:ea typeface="+mn-ea"/>
                <a:cs typeface="+mn-cs"/>
              </a:rPr>
              <a:t>Economic Indicators</a:t>
            </a:r>
          </a:p>
        </p:txBody>
      </p:sp>
      <p:sp>
        <p:nvSpPr>
          <p:cNvPr id="9" name="Text LBody2"/>
          <p:cNvSpPr/>
          <p:nvPr/>
        </p:nvSpPr>
        <p:spPr>
          <a:xfrm>
            <a:off x="365760" y="2180000"/>
            <a:ext cx="3960000" cy="5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Tuition fee status, GDP, and inflation rate fields allow the model to incorporate macroeconomic context that correlates with dropout risk in the training dataset.</a:t>
            </a:r>
          </a:p>
        </p:txBody>
      </p:sp>
      <p:sp>
        <p:nvSpPr>
          <p:cNvPr id="10" name="Text LHead3"/>
          <p:cNvSpPr/>
          <p:nvPr/>
        </p:nvSpPr>
        <p:spPr>
          <a:xfrm>
            <a:off x="365760" y="2780000"/>
            <a:ext cx="396000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4A535"/>
                </a:solidFill>
                <a:effectLst/>
                <a:uLnTx/>
                <a:uFillTx/>
                <a:latin typeface="Calibri" pitchFamily="34" charset="0"/>
                <a:ea typeface="+mn-ea"/>
                <a:cs typeface="+mn-cs"/>
              </a:rPr>
              <a:t>Prediction Trigger</a:t>
            </a:r>
          </a:p>
        </p:txBody>
      </p:sp>
      <p:sp>
        <p:nvSpPr>
          <p:cNvPr id="11" name="Text LBody3"/>
          <p:cNvSpPr/>
          <p:nvPr/>
        </p:nvSpPr>
        <p:spPr>
          <a:xfrm>
            <a:off x="365760" y="3090000"/>
            <a:ext cx="3960000" cy="5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A single submit button triggers an HTTP POST to /predict. All form fields are validated client-side before dispatch. The result page renders the dropout risk classification and confidence score.</a:t>
            </a:r>
          </a:p>
        </p:txBody>
      </p:sp>
      <p:sp>
        <p:nvSpPr>
          <p:cNvPr id="12" name="Text LHead4"/>
          <p:cNvSpPr/>
          <p:nvPr/>
        </p:nvSpPr>
        <p:spPr>
          <a:xfrm>
            <a:off x="365760" y="3690000"/>
            <a:ext cx="3960000" cy="3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DE9B6"/>
                </a:solidFill>
                <a:effectLst/>
                <a:uLnTx/>
                <a:uFillTx/>
                <a:latin typeface="Calibri" pitchFamily="34" charset="0"/>
                <a:ea typeface="+mn-ea"/>
                <a:cs typeface="+mn-cs"/>
              </a:rPr>
              <a:t>Predicted Risk Output</a:t>
            </a:r>
          </a:p>
        </p:txBody>
      </p:sp>
      <p:sp>
        <p:nvSpPr>
          <p:cNvPr id="13" name="Text LBody4"/>
          <p:cNvSpPr/>
          <p:nvPr/>
        </p:nvSpPr>
        <p:spPr>
          <a:xfrm>
            <a:off x="365760" y="4000000"/>
            <a:ext cx="3960000" cy="4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The result page returns a binary classification label alongside a dropout probability score, giving advisors both a categorical decision and an underlying confidence metric.</a:t>
            </a:r>
          </a:p>
        </p:txBody>
      </p:sp>
      <p:sp>
        <p:nvSpPr>
          <p:cNvPr id="14" name="Shape Right"/>
          <p:cNvSpPr/>
          <p:nvPr/>
        </p:nvSpPr>
        <p:spPr>
          <a:xfrm>
            <a:off x="4657920" y="750000"/>
            <a:ext cx="4211760" cy="4090000"/>
          </a:xfrm>
          <a:prstGeom prst="rect">
            <a:avLst/>
          </a:prstGeom>
          <a:solidFill>
            <a:srgbClr val="071221"/>
          </a:solidFill>
          <a:ln w="19050">
            <a:solidFill>
              <a:srgbClr val="0D7C7C"/>
            </a:solidFill>
            <a:prstDash val="solid"/>
          </a:ln>
        </p:spPr>
      </p:sp>
      <p:sp>
        <p:nvSpPr>
          <p:cNvPr id="15" name="Text RightCaption"/>
          <p:cNvSpPr/>
          <p:nvPr/>
        </p:nvSpPr>
        <p:spPr>
          <a:xfrm>
            <a:off x="4700000" y="800000"/>
            <a:ext cx="4127000" cy="300000"/>
          </a:xfrm>
          <a:prstGeom prst="rect">
            <a:avLst/>
          </a:prstGeom>
          <a:noFill/>
          <a:ln/>
        </p:spPr>
        <p:txBody>
          <a:bodyPr wrap="square" lIns="50800" tIns="50800" rIns="50800" bIns="508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DE9B6"/>
                </a:solidFill>
                <a:effectLst/>
                <a:uLnTx/>
                <a:uFillTx/>
                <a:latin typeface="Calibri" pitchFamily="34" charset="0"/>
                <a:ea typeface="+mn-ea"/>
                <a:cs typeface="+mn-cs"/>
              </a:rPr>
              <a:t>Flask Web App Homepage</a:t>
            </a:r>
          </a:p>
        </p:txBody>
      </p:sp>
      <p:sp>
        <p:nvSpPr>
          <p:cNvPr id="16" name="Shape D1"/>
          <p:cNvSpPr/>
          <p:nvPr/>
        </p:nvSpPr>
        <p:spPr>
          <a:xfrm>
            <a:off x="4750000" y="1160000"/>
            <a:ext cx="4027000" cy="380000"/>
          </a:xfrm>
          <a:prstGeom prst="rect">
            <a:avLst/>
          </a:prstGeom>
          <a:solidFill>
            <a:srgbClr val="112233"/>
          </a:solidFill>
          <a:ln w="8890">
            <a:solidFill>
              <a:srgbClr val="7FA8C0"/>
            </a:solidFill>
            <a:prstDash val="solid"/>
          </a:ln>
        </p:spPr>
      </p:sp>
      <p:sp>
        <p:nvSpPr>
          <p:cNvPr id="17" name="Text D1"/>
          <p:cNvSpPr/>
          <p:nvPr/>
        </p:nvSpPr>
        <p:spPr>
          <a:xfrm>
            <a:off x="4750000" y="1160000"/>
            <a:ext cx="4027000" cy="380000"/>
          </a:xfrm>
          <a:prstGeom prst="rect">
            <a:avLst/>
          </a:prstGeom>
          <a:noFill/>
          <a:ln/>
        </p:spPr>
        <p:txBody>
          <a:bodyPr wrap="square"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7FA8C0"/>
                </a:solidFill>
                <a:effectLst/>
                <a:uLnTx/>
                <a:uFillTx/>
                <a:latin typeface="Calibri" pitchFamily="34" charset="0"/>
                <a:ea typeface="+mn-ea"/>
                <a:cs typeface="+mn-cs"/>
              </a:rPr>
              <a:t>Student Details </a:t>
            </a: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Age, admission grade, prior qualification</a:t>
            </a:r>
          </a:p>
        </p:txBody>
      </p:sp>
      <p:sp>
        <p:nvSpPr>
          <p:cNvPr id="18" name="Shape D2"/>
          <p:cNvSpPr/>
          <p:nvPr/>
        </p:nvSpPr>
        <p:spPr>
          <a:xfrm>
            <a:off x="4750000" y="1600000"/>
            <a:ext cx="4027000" cy="380000"/>
          </a:xfrm>
          <a:prstGeom prst="rect">
            <a:avLst/>
          </a:prstGeom>
          <a:solidFill>
            <a:srgbClr val="112233"/>
          </a:solidFill>
          <a:ln w="8890">
            <a:solidFill>
              <a:srgbClr val="13A89E"/>
            </a:solidFill>
            <a:prstDash val="solid"/>
          </a:ln>
        </p:spPr>
      </p:sp>
      <p:sp>
        <p:nvSpPr>
          <p:cNvPr id="19" name="Text D2"/>
          <p:cNvSpPr/>
          <p:nvPr/>
        </p:nvSpPr>
        <p:spPr>
          <a:xfrm>
            <a:off x="4750000" y="1600000"/>
            <a:ext cx="4027000" cy="380000"/>
          </a:xfrm>
          <a:prstGeom prst="rect">
            <a:avLst/>
          </a:prstGeom>
          <a:noFill/>
          <a:ln/>
        </p:spPr>
        <p:txBody>
          <a:bodyPr wrap="square"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3A89E"/>
                </a:solidFill>
                <a:effectLst/>
                <a:uLnTx/>
                <a:uFillTx/>
                <a:latin typeface="Calibri" pitchFamily="34" charset="0"/>
                <a:ea typeface="+mn-ea"/>
                <a:cs typeface="+mn-cs"/>
              </a:rPr>
              <a:t>Semester Performance </a:t>
            </a: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Grades, approved units, evaluations</a:t>
            </a:r>
          </a:p>
        </p:txBody>
      </p:sp>
      <p:sp>
        <p:nvSpPr>
          <p:cNvPr id="20" name="Shape D3"/>
          <p:cNvSpPr/>
          <p:nvPr/>
        </p:nvSpPr>
        <p:spPr>
          <a:xfrm>
            <a:off x="4750000" y="2040000"/>
            <a:ext cx="4027000" cy="380000"/>
          </a:xfrm>
          <a:prstGeom prst="rect">
            <a:avLst/>
          </a:prstGeom>
          <a:solidFill>
            <a:srgbClr val="112233"/>
          </a:solidFill>
          <a:ln w="8890">
            <a:solidFill>
              <a:srgbClr val="0D7C7C"/>
            </a:solidFill>
            <a:prstDash val="solid"/>
          </a:ln>
        </p:spPr>
      </p:sp>
      <p:sp>
        <p:nvSpPr>
          <p:cNvPr id="21" name="Text D3"/>
          <p:cNvSpPr/>
          <p:nvPr/>
        </p:nvSpPr>
        <p:spPr>
          <a:xfrm>
            <a:off x="4750000" y="2040000"/>
            <a:ext cx="4027000" cy="380000"/>
          </a:xfrm>
          <a:prstGeom prst="rect">
            <a:avLst/>
          </a:prstGeom>
          <a:noFill/>
          <a:ln/>
        </p:spPr>
        <p:txBody>
          <a:bodyPr wrap="square"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D7C7C"/>
                </a:solidFill>
                <a:effectLst/>
                <a:uLnTx/>
                <a:uFillTx/>
                <a:latin typeface="Calibri" pitchFamily="34" charset="0"/>
                <a:ea typeface="+mn-ea"/>
                <a:cs typeface="+mn-cs"/>
              </a:rPr>
              <a:t>Enrollment Details </a:t>
            </a: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Course, application mode, enrolled units</a:t>
            </a:r>
          </a:p>
        </p:txBody>
      </p:sp>
      <p:sp>
        <p:nvSpPr>
          <p:cNvPr id="22" name="Shape D4"/>
          <p:cNvSpPr/>
          <p:nvPr/>
        </p:nvSpPr>
        <p:spPr>
          <a:xfrm>
            <a:off x="4750000" y="2480000"/>
            <a:ext cx="4027000" cy="380000"/>
          </a:xfrm>
          <a:prstGeom prst="rect">
            <a:avLst/>
          </a:prstGeom>
          <a:solidFill>
            <a:srgbClr val="112233"/>
          </a:solidFill>
          <a:ln w="8890">
            <a:solidFill>
              <a:srgbClr val="F4A535"/>
            </a:solidFill>
            <a:prstDash val="solid"/>
          </a:ln>
        </p:spPr>
      </p:sp>
      <p:sp>
        <p:nvSpPr>
          <p:cNvPr id="23" name="Text D4"/>
          <p:cNvSpPr/>
          <p:nvPr/>
        </p:nvSpPr>
        <p:spPr>
          <a:xfrm>
            <a:off x="4750000" y="2480000"/>
            <a:ext cx="4027000" cy="380000"/>
          </a:xfrm>
          <a:prstGeom prst="rect">
            <a:avLst/>
          </a:prstGeom>
          <a:noFill/>
          <a:ln/>
        </p:spPr>
        <p:txBody>
          <a:bodyPr wrap="square"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A535"/>
                </a:solidFill>
                <a:effectLst/>
                <a:uLnTx/>
                <a:uFillTx/>
                <a:latin typeface="Calibri" pitchFamily="34" charset="0"/>
                <a:ea typeface="+mn-ea"/>
                <a:cs typeface="+mn-cs"/>
              </a:rPr>
              <a:t>Family Background </a:t>
            </a: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Parental occupation and qualification</a:t>
            </a:r>
          </a:p>
        </p:txBody>
      </p:sp>
      <p:sp>
        <p:nvSpPr>
          <p:cNvPr id="24" name="Shape D5"/>
          <p:cNvSpPr/>
          <p:nvPr/>
        </p:nvSpPr>
        <p:spPr>
          <a:xfrm>
            <a:off x="4750000" y="2920000"/>
            <a:ext cx="4027000" cy="380000"/>
          </a:xfrm>
          <a:prstGeom prst="rect">
            <a:avLst/>
          </a:prstGeom>
          <a:solidFill>
            <a:srgbClr val="112233"/>
          </a:solidFill>
          <a:ln w="8890">
            <a:solidFill>
              <a:srgbClr val="1DE9B6"/>
            </a:solidFill>
            <a:prstDash val="solid"/>
          </a:ln>
        </p:spPr>
      </p:sp>
      <p:sp>
        <p:nvSpPr>
          <p:cNvPr id="25" name="Text D5"/>
          <p:cNvSpPr/>
          <p:nvPr/>
        </p:nvSpPr>
        <p:spPr>
          <a:xfrm>
            <a:off x="4750000" y="2920000"/>
            <a:ext cx="4027000" cy="380000"/>
          </a:xfrm>
          <a:prstGeom prst="rect">
            <a:avLst/>
          </a:prstGeom>
          <a:noFill/>
          <a:ln/>
        </p:spPr>
        <p:txBody>
          <a:bodyPr wrap="square"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DE9B6"/>
                </a:solidFill>
                <a:effectLst/>
                <a:uLnTx/>
                <a:uFillTx/>
                <a:latin typeface="Calibri" pitchFamily="34" charset="0"/>
                <a:ea typeface="+mn-ea"/>
                <a:cs typeface="+mn-cs"/>
              </a:rPr>
              <a:t>Economic Indicators </a:t>
            </a: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Tuition status, GDP, inflation rate</a:t>
            </a:r>
          </a:p>
        </p:txBody>
      </p:sp>
      <p:sp>
        <p:nvSpPr>
          <p:cNvPr id="26" name="Shape Btn"/>
          <p:cNvSpPr/>
          <p:nvPr/>
        </p:nvSpPr>
        <p:spPr>
          <a:xfrm>
            <a:off x="5300000" y="3450000"/>
            <a:ext cx="2900000" cy="380000"/>
          </a:xfrm>
          <a:prstGeom prst="roundRect">
            <a:avLst>
              <a:gd name="adj" fmla="val 50000"/>
            </a:avLst>
          </a:prstGeom>
          <a:solidFill>
            <a:srgbClr val="0D7C7C"/>
          </a:solidFill>
          <a:ln w="0">
            <a:noFill/>
          </a:ln>
        </p:spPr>
      </p:sp>
      <p:sp>
        <p:nvSpPr>
          <p:cNvPr id="27" name="Text Btn"/>
          <p:cNvSpPr/>
          <p:nvPr/>
        </p:nvSpPr>
        <p:spPr>
          <a:xfrm>
            <a:off x="5300000" y="3450000"/>
            <a:ext cx="2900000" cy="380000"/>
          </a:xfrm>
          <a:prstGeom prst="round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mn-ea"/>
                <a:cs typeface="+mn-cs"/>
              </a:rPr>
              <a:t>Predict Dropout Risk</a:t>
            </a:r>
          </a:p>
        </p:txBody>
      </p:sp>
      <p:sp>
        <p:nvSpPr>
          <p:cNvPr id="28" name="Text BtnNote"/>
          <p:cNvSpPr/>
          <p:nvPr/>
        </p:nvSpPr>
        <p:spPr>
          <a:xfrm>
            <a:off x="4750000" y="3900000"/>
            <a:ext cx="4027000" cy="700000"/>
          </a:xfrm>
          <a:prstGeom prst="rect">
            <a:avLst/>
          </a:prstGeom>
          <a:noFill/>
          <a:ln/>
        </p:spPr>
        <p:txBody>
          <a:bodyPr wrap="square" lIns="91440" tIns="50800" rIns="91440" bIns="508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7FA8C0"/>
                </a:solidFill>
                <a:effectLst/>
                <a:uLnTx/>
                <a:uFillTx/>
                <a:latin typeface="Calibri" pitchFamily="34" charset="0"/>
                <a:ea typeface="+mn-ea"/>
                <a:cs typeface="+mn-cs"/>
              </a:rPr>
              <a:t>Submits form data via POST to /predict. The result page displays the binary risk classification and probability score returned by the XGBoost backend.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mn-cs"/>
              </a:rPr>
              <a:t>System Architecture</a:t>
            </a:r>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1DE9B6"/>
                </a:solidFill>
                <a:effectLst/>
                <a:uLnTx/>
                <a:uFillTx/>
                <a:latin typeface="Calibri" pitchFamily="34" charset="0"/>
                <a:ea typeface="+mn-ea"/>
                <a:cs typeface="+mn-cs"/>
              </a:rPr>
              <a:t>Three-layer design connecting the browser-rendered UI to the Flask routing layer and the serialised ML pipeline</a:t>
            </a:r>
          </a:p>
        </p:txBody>
      </p:sp>
      <p:sp>
        <p:nvSpPr>
          <p:cNvPr id="5" name="Shape L1"/>
          <p:cNvSpPr/>
          <p:nvPr/>
        </p:nvSpPr>
        <p:spPr>
          <a:xfrm>
            <a:off x="274320" y="780000"/>
            <a:ext cx="8595360" cy="980000"/>
          </a:xfrm>
          <a:prstGeom prst="rect">
            <a:avLst/>
          </a:prstGeom>
          <a:solidFill>
            <a:srgbClr val="112233"/>
          </a:solidFill>
          <a:ln w="8890">
            <a:solidFill>
              <a:srgbClr val="7FA8C0"/>
            </a:solidFill>
            <a:prstDash val="solid"/>
          </a:ln>
          <a:effectLst>
            <a:outerShdw blurRad="101600" dist="38100" dir="8100000" algn="bl" rotWithShape="0">
              <a:srgbClr val="000000">
                <a:alpha val="28000"/>
              </a:srgbClr>
            </a:outerShdw>
          </a:effectLst>
        </p:spPr>
      </p:sp>
      <p:sp>
        <p:nvSpPr>
          <p:cNvPr id="6" name="Shape L1Tag"/>
          <p:cNvSpPr/>
          <p:nvPr/>
        </p:nvSpPr>
        <p:spPr>
          <a:xfrm>
            <a:off x="274320" y="780000"/>
            <a:ext cx="250000" cy="980000"/>
          </a:xfrm>
          <a:prstGeom prst="rect">
            <a:avLst/>
          </a:prstGeom>
          <a:solidFill>
            <a:srgbClr val="7FA8C0"/>
          </a:solidFill>
          <a:ln w="0">
            <a:noFill/>
          </a:ln>
        </p:spPr>
      </p:sp>
      <p:sp>
        <p:nvSpPr>
          <p:cNvPr id="7" name="Text L1Title"/>
          <p:cNvSpPr/>
          <p:nvPr/>
        </p:nvSpPr>
        <p:spPr>
          <a:xfrm>
            <a:off x="600000" y="830000"/>
            <a:ext cx="3800000" cy="32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7FA8C0"/>
                </a:solidFill>
                <a:effectLst/>
                <a:uLnTx/>
                <a:uFillTx/>
                <a:latin typeface="Calibri" pitchFamily="34" charset="0"/>
                <a:ea typeface="+mn-ea"/>
                <a:cs typeface="+mn-cs"/>
              </a:rPr>
              <a:t>Layer 1  Frontend Interface (HTML / CSS)</a:t>
            </a:r>
          </a:p>
        </p:txBody>
      </p:sp>
      <p:sp>
        <p:nvSpPr>
          <p:cNvPr id="8" name="Text L1Desc"/>
          <p:cNvSpPr/>
          <p:nvPr/>
        </p:nvSpPr>
        <p:spPr>
          <a:xfrm>
            <a:off x="600000" y="1160000"/>
            <a:ext cx="8100000" cy="5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Browser-rendered HTML template structured into four input sections. Jinja2 templating dynamically populates dropdown options. Form submission triggers an HTTP POST request. The results page receives and renders the model response via template variable injection.</a:t>
            </a:r>
          </a:p>
        </p:txBody>
      </p:sp>
      <p:sp>
        <p:nvSpPr>
          <p:cNvPr id="9" name="Shape Arr1"/>
          <p:cNvSpPr/>
          <p:nvPr/>
        </p:nvSpPr>
        <p:spPr>
          <a:xfrm>
            <a:off x="4300000" y="1780000"/>
            <a:ext cx="500000" cy="280000"/>
          </a:xfrm>
          <a:prstGeom prst="downArrow">
            <a:avLst>
              <a:gd name="adj1" fmla="val 50000"/>
              <a:gd name="adj2" fmla="val 50000"/>
            </a:avLst>
          </a:prstGeom>
          <a:solidFill>
            <a:srgbClr val="0D7C7C"/>
          </a:solidFill>
          <a:ln w="0">
            <a:noFill/>
          </a:ln>
        </p:spPr>
      </p:sp>
      <p:sp>
        <p:nvSpPr>
          <p:cNvPr id="10" name="Shape L2"/>
          <p:cNvSpPr/>
          <p:nvPr/>
        </p:nvSpPr>
        <p:spPr>
          <a:xfrm>
            <a:off x="274320" y="2110000"/>
            <a:ext cx="8595360" cy="980000"/>
          </a:xfrm>
          <a:prstGeom prst="rect">
            <a:avLst/>
          </a:prstGeom>
          <a:solidFill>
            <a:srgbClr val="112233"/>
          </a:solidFill>
          <a:ln w="8890">
            <a:solidFill>
              <a:srgbClr val="13A89E"/>
            </a:solidFill>
            <a:prstDash val="solid"/>
          </a:ln>
          <a:effectLst>
            <a:outerShdw blurRad="101600" dist="38100" dir="8100000" algn="bl" rotWithShape="0">
              <a:srgbClr val="000000">
                <a:alpha val="28000"/>
              </a:srgbClr>
            </a:outerShdw>
          </a:effectLst>
        </p:spPr>
      </p:sp>
      <p:sp>
        <p:nvSpPr>
          <p:cNvPr id="11" name="Shape L2Tag"/>
          <p:cNvSpPr/>
          <p:nvPr/>
        </p:nvSpPr>
        <p:spPr>
          <a:xfrm>
            <a:off x="274320" y="2110000"/>
            <a:ext cx="250000" cy="980000"/>
          </a:xfrm>
          <a:prstGeom prst="rect">
            <a:avLst/>
          </a:prstGeom>
          <a:solidFill>
            <a:srgbClr val="13A89E"/>
          </a:solidFill>
          <a:ln w="0">
            <a:noFill/>
          </a:ln>
        </p:spPr>
      </p:sp>
      <p:sp>
        <p:nvSpPr>
          <p:cNvPr id="12" name="Text L2Title"/>
          <p:cNvSpPr/>
          <p:nvPr/>
        </p:nvSpPr>
        <p:spPr>
          <a:xfrm>
            <a:off x="600000" y="2160000"/>
            <a:ext cx="3800000" cy="32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3A89E"/>
                </a:solidFill>
                <a:effectLst/>
                <a:uLnTx/>
                <a:uFillTx/>
                <a:latin typeface="Calibri" pitchFamily="34" charset="0"/>
                <a:ea typeface="+mn-ea"/>
                <a:cs typeface="+mn-cs"/>
              </a:rPr>
              <a:t>Layer 2  Flask Backend Server (Python)</a:t>
            </a:r>
          </a:p>
        </p:txBody>
      </p:sp>
      <p:sp>
        <p:nvSpPr>
          <p:cNvPr id="13" name="Text L2Desc"/>
          <p:cNvSpPr/>
          <p:nvPr/>
        </p:nvSpPr>
        <p:spPr>
          <a:xfrm>
            <a:off x="600000" y="2490000"/>
            <a:ext cx="8100000" cy="5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Flask route handler parses the POST payload, validates field types, and assembles the feature vector in the column order expected by the trained pipeline. It then invokes the model and packages the prediction response for template rendering.</a:t>
            </a:r>
          </a:p>
        </p:txBody>
      </p:sp>
      <p:sp>
        <p:nvSpPr>
          <p:cNvPr id="14" name="Shape Arr2"/>
          <p:cNvSpPr/>
          <p:nvPr/>
        </p:nvSpPr>
        <p:spPr>
          <a:xfrm>
            <a:off x="4300000" y="3110000"/>
            <a:ext cx="500000" cy="280000"/>
          </a:xfrm>
          <a:prstGeom prst="downArrow">
            <a:avLst>
              <a:gd name="adj1" fmla="val 50000"/>
              <a:gd name="adj2" fmla="val 50000"/>
            </a:avLst>
          </a:prstGeom>
          <a:solidFill>
            <a:srgbClr val="0D7C7C"/>
          </a:solidFill>
          <a:ln w="0">
            <a:noFill/>
          </a:ln>
        </p:spPr>
      </p:sp>
      <p:sp>
        <p:nvSpPr>
          <p:cNvPr id="15" name="Shape L3"/>
          <p:cNvSpPr/>
          <p:nvPr/>
        </p:nvSpPr>
        <p:spPr>
          <a:xfrm>
            <a:off x="274320" y="3440000"/>
            <a:ext cx="8595360" cy="980000"/>
          </a:xfrm>
          <a:prstGeom prst="rect">
            <a:avLst/>
          </a:prstGeom>
          <a:solidFill>
            <a:srgbClr val="112233"/>
          </a:solidFill>
          <a:ln w="8890">
            <a:solidFill>
              <a:srgbClr val="1DE9B6"/>
            </a:solidFill>
            <a:prstDash val="solid"/>
          </a:ln>
          <a:effectLst>
            <a:outerShdw blurRad="101600" dist="38100" dir="8100000" algn="bl" rotWithShape="0">
              <a:srgbClr val="000000">
                <a:alpha val="28000"/>
              </a:srgbClr>
            </a:outerShdw>
          </a:effectLst>
        </p:spPr>
      </p:sp>
      <p:sp>
        <p:nvSpPr>
          <p:cNvPr id="16" name="Shape L3Tag"/>
          <p:cNvSpPr/>
          <p:nvPr/>
        </p:nvSpPr>
        <p:spPr>
          <a:xfrm>
            <a:off x="274320" y="3440000"/>
            <a:ext cx="250000" cy="980000"/>
          </a:xfrm>
          <a:prstGeom prst="rect">
            <a:avLst/>
          </a:prstGeom>
          <a:solidFill>
            <a:srgbClr val="1DE9B6"/>
          </a:solidFill>
          <a:ln w="0">
            <a:noFill/>
          </a:ln>
        </p:spPr>
      </p:sp>
      <p:sp>
        <p:nvSpPr>
          <p:cNvPr id="17" name="Text L3Title"/>
          <p:cNvSpPr/>
          <p:nvPr/>
        </p:nvSpPr>
        <p:spPr>
          <a:xfrm>
            <a:off x="600000" y="3490000"/>
            <a:ext cx="3800000" cy="32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DE9B6"/>
                </a:solidFill>
                <a:effectLst/>
                <a:uLnTx/>
                <a:uFillTx/>
                <a:latin typeface="Calibri" pitchFamily="34" charset="0"/>
                <a:ea typeface="+mn-ea"/>
                <a:cs typeface="+mn-cs"/>
              </a:rPr>
              <a:t>Layer 3  ML Prediction Model (XGBoost)</a:t>
            </a:r>
          </a:p>
        </p:txBody>
      </p:sp>
      <p:sp>
        <p:nvSpPr>
          <p:cNvPr id="18" name="Text L3Desc"/>
          <p:cNvSpPr/>
          <p:nvPr/>
        </p:nvSpPr>
        <p:spPr>
          <a:xfrm>
            <a:off x="600000" y="3820000"/>
            <a:ext cx="8100000" cy="50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D6EAF8"/>
                </a:solidFill>
                <a:effectLst/>
                <a:uLnTx/>
                <a:uFillTx/>
                <a:latin typeface="Calibri" pitchFamily="34" charset="0"/>
                <a:ea typeface="+mn-ea"/>
                <a:cs typeface="+mn-cs"/>
              </a:rPr>
              <a:t>The serialised sklearn Pipeline (StandardScaler + XGBoostClassifier) applies stored scaling parameters to the input vector before inference. It returns a class label (0/1) and a probability score, both passed back to the Flask layer.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7C7C"/>
          </a:solidFill>
          <a:ln w="12700">
            <a:solidFill>
              <a:srgbClr val="0D7C7C"/>
            </a:solidFill>
            <a:prstDash val="solid"/>
          </a:ln>
        </p:spPr>
      </p:sp>
      <p:sp>
        <p:nvSpPr>
          <p:cNvPr id="3" name="Text 1"/>
          <p:cNvSpPr/>
          <p:nvPr/>
        </p:nvSpPr>
        <p:spPr>
          <a:xfrm>
            <a:off x="365760" y="27432"/>
            <a:ext cx="8412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mn-ea"/>
                <a:cs typeface="+mn-cs"/>
              </a:rPr>
              <a:t>Practical Use Case</a:t>
            </a:r>
          </a:p>
        </p:txBody>
      </p:sp>
      <p:sp>
        <p:nvSpPr>
          <p:cNvPr id="4" name="Text 2"/>
          <p:cNvSpPr/>
          <p:nvPr/>
        </p:nvSpPr>
        <p:spPr>
          <a:xfrm>
            <a:off x="365760" y="493776"/>
            <a:ext cx="8412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1DE9B6"/>
                </a:solidFill>
                <a:effectLst/>
                <a:uLnTx/>
                <a:uFillTx/>
                <a:latin typeface="Calibri" pitchFamily="34" charset="0"/>
                <a:ea typeface="+mn-ea"/>
                <a:cs typeface="+mn-cs"/>
              </a:rPr>
              <a:t>Translating model predictions into structured early-intervention workflows for academic institutions</a:t>
            </a:r>
          </a:p>
        </p:txBody>
      </p:sp>
      <p:sp>
        <p:nvSpPr>
          <p:cNvPr id="5" name="Shape S1"/>
          <p:cNvSpPr/>
          <p:nvPr/>
        </p:nvSpPr>
        <p:spPr>
          <a:xfrm>
            <a:off x="274320" y="760000"/>
            <a:ext cx="8595360" cy="80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6" name="Shape S1N"/>
          <p:cNvSpPr/>
          <p:nvPr/>
        </p:nvSpPr>
        <p:spPr>
          <a:xfrm>
            <a:off x="274320" y="760000"/>
            <a:ext cx="1554480" cy="800000"/>
          </a:xfrm>
          <a:prstGeom prst="rect">
            <a:avLst/>
          </a:prstGeom>
          <a:solidFill>
            <a:srgbClr val="7FA8C0"/>
          </a:solidFill>
          <a:ln w="0">
            <a:noFill/>
          </a:ln>
        </p:spPr>
      </p:sp>
      <p:sp>
        <p:nvSpPr>
          <p:cNvPr id="7" name="Text S1N"/>
          <p:cNvSpPr/>
          <p:nvPr/>
        </p:nvSpPr>
        <p:spPr>
          <a:xfrm>
            <a:off x="274320" y="760000"/>
            <a:ext cx="1554480" cy="80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71221"/>
                </a:solidFill>
                <a:effectLst/>
                <a:uLnTx/>
                <a:uFillTx/>
                <a:latin typeface="Calibri" pitchFamily="34" charset="0"/>
                <a:ea typeface="+mn-ea"/>
                <a:cs typeface="+mn-cs"/>
              </a:rPr>
              <a:t>01</a:t>
            </a:r>
          </a:p>
        </p:txBody>
      </p:sp>
      <p:sp>
        <p:nvSpPr>
          <p:cNvPr id="8" name="Text S1Title"/>
          <p:cNvSpPr/>
          <p:nvPr/>
        </p:nvSpPr>
        <p:spPr>
          <a:xfrm>
            <a:off x="1965960" y="80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7FA8C0"/>
                </a:solidFill>
                <a:effectLst/>
                <a:uLnTx/>
                <a:uFillTx/>
                <a:latin typeface="Calibri" pitchFamily="34" charset="0"/>
                <a:ea typeface="+mn-ea"/>
                <a:cs typeface="+mn-cs"/>
              </a:rPr>
              <a:t>Data Entry by Academic Advisor</a:t>
            </a:r>
          </a:p>
        </p:txBody>
      </p:sp>
      <p:sp>
        <p:nvSpPr>
          <p:cNvPr id="9" name="Text S1Desc"/>
          <p:cNvSpPr/>
          <p:nvPr/>
        </p:nvSpPr>
        <p:spPr>
          <a:xfrm>
            <a:off x="1965960" y="1115000"/>
            <a:ext cx="6720840" cy="34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An academic advisor logs into the Flask web application and enters a student’s academic, demographic, enrollment, and economic features into the structured input form.</a:t>
            </a:r>
          </a:p>
        </p:txBody>
      </p:sp>
      <p:sp>
        <p:nvSpPr>
          <p:cNvPr id="10" name="Shape S2"/>
          <p:cNvSpPr/>
          <p:nvPr/>
        </p:nvSpPr>
        <p:spPr>
          <a:xfrm>
            <a:off x="274320" y="1640000"/>
            <a:ext cx="8595360" cy="80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Shape S2N"/>
          <p:cNvSpPr/>
          <p:nvPr/>
        </p:nvSpPr>
        <p:spPr>
          <a:xfrm>
            <a:off x="274320" y="1640000"/>
            <a:ext cx="1554480" cy="800000"/>
          </a:xfrm>
          <a:prstGeom prst="rect">
            <a:avLst/>
          </a:prstGeom>
          <a:solidFill>
            <a:srgbClr val="13A89E"/>
          </a:solidFill>
          <a:ln w="0">
            <a:noFill/>
          </a:ln>
        </p:spPr>
      </p:sp>
      <p:sp>
        <p:nvSpPr>
          <p:cNvPr id="12" name="Text S2N"/>
          <p:cNvSpPr/>
          <p:nvPr/>
        </p:nvSpPr>
        <p:spPr>
          <a:xfrm>
            <a:off x="274320" y="1640000"/>
            <a:ext cx="1554480" cy="80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71221"/>
                </a:solidFill>
                <a:effectLst/>
                <a:uLnTx/>
                <a:uFillTx/>
                <a:latin typeface="Calibri" pitchFamily="34" charset="0"/>
                <a:ea typeface="+mn-ea"/>
                <a:cs typeface="+mn-cs"/>
              </a:rPr>
              <a:t>02</a:t>
            </a:r>
          </a:p>
        </p:txBody>
      </p:sp>
      <p:sp>
        <p:nvSpPr>
          <p:cNvPr id="13" name="Text S2Title"/>
          <p:cNvSpPr/>
          <p:nvPr/>
        </p:nvSpPr>
        <p:spPr>
          <a:xfrm>
            <a:off x="1965960" y="168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3A89E"/>
                </a:solidFill>
                <a:effectLst/>
                <a:uLnTx/>
                <a:uFillTx/>
                <a:latin typeface="Calibri" pitchFamily="34" charset="0"/>
                <a:ea typeface="+mn-ea"/>
                <a:cs typeface="+mn-cs"/>
              </a:rPr>
              <a:t>System Generates Risk Prediction</a:t>
            </a:r>
          </a:p>
        </p:txBody>
      </p:sp>
      <p:sp>
        <p:nvSpPr>
          <p:cNvPr id="14" name="Text S2Desc"/>
          <p:cNvSpPr/>
          <p:nvPr/>
        </p:nvSpPr>
        <p:spPr>
          <a:xfrm>
            <a:off x="1965960" y="1995000"/>
            <a:ext cx="6720840" cy="34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The Flask backend processes the submission, scales the input vector, and invokes the trained XGBoost classifier. Within milliseconds, a risk label and dropout probability are returned to the interface.</a:t>
            </a:r>
          </a:p>
        </p:txBody>
      </p:sp>
      <p:sp>
        <p:nvSpPr>
          <p:cNvPr id="15" name="Shape S3"/>
          <p:cNvSpPr/>
          <p:nvPr/>
        </p:nvSpPr>
        <p:spPr>
          <a:xfrm>
            <a:off x="274320" y="2520000"/>
            <a:ext cx="8595360" cy="80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6" name="Shape S3N"/>
          <p:cNvSpPr/>
          <p:nvPr/>
        </p:nvSpPr>
        <p:spPr>
          <a:xfrm>
            <a:off x="274320" y="2520000"/>
            <a:ext cx="1554480" cy="800000"/>
          </a:xfrm>
          <a:prstGeom prst="rect">
            <a:avLst/>
          </a:prstGeom>
          <a:solidFill>
            <a:srgbClr val="F4A535"/>
          </a:solidFill>
          <a:ln w="0">
            <a:noFill/>
          </a:ln>
        </p:spPr>
      </p:sp>
      <p:sp>
        <p:nvSpPr>
          <p:cNvPr id="17" name="Text S3N"/>
          <p:cNvSpPr/>
          <p:nvPr/>
        </p:nvSpPr>
        <p:spPr>
          <a:xfrm>
            <a:off x="274320" y="2520000"/>
            <a:ext cx="1554480" cy="80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71221"/>
                </a:solidFill>
                <a:effectLst/>
                <a:uLnTx/>
                <a:uFillTx/>
                <a:latin typeface="Calibri" pitchFamily="34" charset="0"/>
                <a:ea typeface="+mn-ea"/>
                <a:cs typeface="+mn-cs"/>
              </a:rPr>
              <a:t>03</a:t>
            </a:r>
          </a:p>
        </p:txBody>
      </p:sp>
      <p:sp>
        <p:nvSpPr>
          <p:cNvPr id="18" name="Text S3Title"/>
          <p:cNvSpPr/>
          <p:nvPr/>
        </p:nvSpPr>
        <p:spPr>
          <a:xfrm>
            <a:off x="1965960" y="256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A535"/>
                </a:solidFill>
                <a:effectLst/>
                <a:uLnTx/>
                <a:uFillTx/>
                <a:latin typeface="Calibri" pitchFamily="34" charset="0"/>
                <a:ea typeface="+mn-ea"/>
                <a:cs typeface="+mn-cs"/>
              </a:rPr>
              <a:t>Advisor Reviews Result</a:t>
            </a:r>
          </a:p>
        </p:txBody>
      </p:sp>
      <p:sp>
        <p:nvSpPr>
          <p:cNvPr id="19" name="Text S3Desc"/>
          <p:cNvSpPr/>
          <p:nvPr/>
        </p:nvSpPr>
        <p:spPr>
          <a:xfrm>
            <a:off x="1965960" y="2875000"/>
            <a:ext cx="6720840" cy="34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The advisor receives a risk classification and associated probability. High-risk predictions are prioritised for outreach, while low-risk results allow advisors to allocate time to higher-need students.</a:t>
            </a:r>
          </a:p>
        </p:txBody>
      </p:sp>
      <p:sp>
        <p:nvSpPr>
          <p:cNvPr id="20" name="Shape S4"/>
          <p:cNvSpPr/>
          <p:nvPr/>
        </p:nvSpPr>
        <p:spPr>
          <a:xfrm>
            <a:off x="274320" y="3400000"/>
            <a:ext cx="8595360" cy="8000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21" name="Shape S4N"/>
          <p:cNvSpPr/>
          <p:nvPr/>
        </p:nvSpPr>
        <p:spPr>
          <a:xfrm>
            <a:off x="274320" y="3400000"/>
            <a:ext cx="1554480" cy="800000"/>
          </a:xfrm>
          <a:prstGeom prst="rect">
            <a:avLst/>
          </a:prstGeom>
          <a:solidFill>
            <a:srgbClr val="1DE9B6"/>
          </a:solidFill>
          <a:ln w="0">
            <a:noFill/>
          </a:ln>
        </p:spPr>
      </p:sp>
      <p:sp>
        <p:nvSpPr>
          <p:cNvPr id="22" name="Text S4N"/>
          <p:cNvSpPr/>
          <p:nvPr/>
        </p:nvSpPr>
        <p:spPr>
          <a:xfrm>
            <a:off x="274320" y="3400000"/>
            <a:ext cx="1554480" cy="80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71221"/>
                </a:solidFill>
                <a:effectLst/>
                <a:uLnTx/>
                <a:uFillTx/>
                <a:latin typeface="Calibri" pitchFamily="34" charset="0"/>
                <a:ea typeface="+mn-ea"/>
                <a:cs typeface="+mn-cs"/>
              </a:rPr>
              <a:t>04</a:t>
            </a:r>
          </a:p>
        </p:txBody>
      </p:sp>
      <p:sp>
        <p:nvSpPr>
          <p:cNvPr id="23" name="Text S4Title"/>
          <p:cNvSpPr/>
          <p:nvPr/>
        </p:nvSpPr>
        <p:spPr>
          <a:xfrm>
            <a:off x="1965960" y="3440000"/>
            <a:ext cx="2800000" cy="31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DE9B6"/>
                </a:solidFill>
                <a:effectLst/>
                <a:uLnTx/>
                <a:uFillTx/>
                <a:latin typeface="Calibri" pitchFamily="34" charset="0"/>
                <a:ea typeface="+mn-ea"/>
                <a:cs typeface="+mn-cs"/>
              </a:rPr>
              <a:t>Early Intervention Action Taken</a:t>
            </a:r>
          </a:p>
        </p:txBody>
      </p:sp>
      <p:sp>
        <p:nvSpPr>
          <p:cNvPr id="24" name="Text S4Desc"/>
          <p:cNvSpPr/>
          <p:nvPr/>
        </p:nvSpPr>
        <p:spPr>
          <a:xfrm>
            <a:off x="1965960" y="3755000"/>
            <a:ext cx="6720840" cy="340000"/>
          </a:xfrm>
          <a:prstGeom prst="rect">
            <a:avLst/>
          </a:prstGeom>
          <a:noFill/>
          <a:ln/>
        </p:spPr>
        <p:txBody>
          <a:bodyPr wrap="square" lIns="50800" tIns="50800" rIns="50800" bIns="508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6EAF8"/>
                </a:solidFill>
                <a:effectLst/>
                <a:uLnTx/>
                <a:uFillTx/>
                <a:latin typeface="Calibri" pitchFamily="34" charset="0"/>
                <a:ea typeface="+mn-ea"/>
                <a:cs typeface="+mn-cs"/>
              </a:rPr>
              <a:t>At-risk students are contacted before the dropout event occurs. Interventions include academic counselling, fee negotiation, or learning support referrals guided by the model’s top contributing features.</a:t>
            </a:r>
          </a:p>
        </p:txBody>
      </p:sp>
      <p:sp>
        <p:nvSpPr>
          <p:cNvPr id="25" name="Shape Footer"/>
          <p:cNvSpPr/>
          <p:nvPr/>
        </p:nvSpPr>
        <p:spPr>
          <a:xfrm>
            <a:off x="274320" y="4330000"/>
            <a:ext cx="8595360" cy="420000"/>
          </a:xfrm>
          <a:prstGeom prst="rect">
            <a:avLst/>
          </a:prstGeom>
          <a:solidFill>
            <a:srgbClr val="071221"/>
          </a:solidFill>
          <a:ln w="19050">
            <a:solidFill>
              <a:srgbClr val="F4A535"/>
            </a:solidFill>
            <a:prstDash val="solid"/>
          </a:ln>
        </p:spPr>
      </p:sp>
      <p:sp>
        <p:nvSpPr>
          <p:cNvPr id="26" name="Text Footer"/>
          <p:cNvSpPr/>
          <p:nvPr/>
        </p:nvSpPr>
        <p:spPr>
          <a:xfrm>
            <a:off x="274320" y="4330000"/>
            <a:ext cx="8595360" cy="420000"/>
          </a:xfrm>
          <a:prstGeom prst="rect">
            <a:avLst/>
          </a:prstGeom>
          <a:noFill/>
          <a:ln/>
        </p:spPr>
        <p:txBody>
          <a:bodyPr wrap="square" lIns="114300" tIns="0" rIns="1143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 b="0" i="1" u="none" strike="noStrike" kern="1200" cap="none" spc="0" normalizeH="0" baseline="0" noProof="0" dirty="0">
                <a:ln>
                  <a:noFill/>
                </a:ln>
                <a:solidFill>
                  <a:srgbClr val="D6EAF8"/>
                </a:solidFill>
                <a:effectLst/>
                <a:uLnTx/>
                <a:uFillTx/>
                <a:latin typeface="Calibri" pitchFamily="34" charset="0"/>
                <a:ea typeface="+mn-ea"/>
                <a:cs typeface="+mn-cs"/>
              </a:rPr>
              <a:t>The deployed system shifts institutional response from reactive case management to proactive, data-informed student support  weeks before a dropout event would otherwise be detected.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71221"/>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D1B2A"/>
          </a:solidFill>
          <a:ln w="12700">
            <a:solidFill>
              <a:srgbClr val="0D1B2A"/>
            </a:solidFill>
            <a:prstDash val="solid"/>
          </a:ln>
        </p:spPr>
      </p:sp>
      <p:sp>
        <p:nvSpPr>
          <p:cNvPr id="3" name="Shape 1"/>
          <p:cNvSpPr/>
          <p:nvPr/>
        </p:nvSpPr>
        <p:spPr>
          <a:xfrm>
            <a:off x="4114800" y="0"/>
            <a:ext cx="54864" cy="5143500"/>
          </a:xfrm>
          <a:prstGeom prst="rect">
            <a:avLst/>
          </a:prstGeom>
          <a:solidFill>
            <a:srgbClr val="0D7C7C"/>
          </a:solidFill>
          <a:ln w="12700">
            <a:solidFill>
              <a:srgbClr val="0D7C7C"/>
            </a:solidFill>
            <a:prstDash val="solid"/>
          </a:ln>
        </p:spPr>
      </p:sp>
      <p:pic>
        <p:nvPicPr>
          <p:cNvPr id="4" name="Image 0" descr="preencoded.png"/>
          <p:cNvPicPr>
            <a:picLocks noChangeAspect="1"/>
          </p:cNvPicPr>
          <p:nvPr/>
        </p:nvPicPr>
        <p:blipFill>
          <a:blip r:embed="rId3"/>
          <a:stretch>
            <a:fillRect/>
          </a:stretch>
        </p:blipFill>
        <p:spPr>
          <a:xfrm>
            <a:off x="548640" y="502920"/>
            <a:ext cx="1234440" cy="1234440"/>
          </a:xfrm>
          <a:prstGeom prst="rect">
            <a:avLst/>
          </a:prstGeom>
        </p:spPr>
      </p:pic>
      <p:sp>
        <p:nvSpPr>
          <p:cNvPr id="5" name="Text 2"/>
          <p:cNvSpPr/>
          <p:nvPr/>
        </p:nvSpPr>
        <p:spPr>
          <a:xfrm>
            <a:off x="411480" y="1810512"/>
            <a:ext cx="3337560" cy="594360"/>
          </a:xfrm>
          <a:prstGeom prst="rect">
            <a:avLst/>
          </a:prstGeom>
          <a:noFill/>
          <a:ln/>
        </p:spPr>
        <p:txBody>
          <a:bodyPr wrap="square" lIns="50800" tIns="50800" rIns="50800" bIns="50800" rtlCol="0" anchor="t"/>
          <a:lstStyle/>
          <a:p>
            <a:pPr marL="0" indent="0" algn="l">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6" name="Text 3"/>
          <p:cNvSpPr/>
          <p:nvPr/>
        </p:nvSpPr>
        <p:spPr>
          <a:xfrm>
            <a:off x="411480" y="2377440"/>
            <a:ext cx="3337560" cy="475488"/>
          </a:xfrm>
          <a:prstGeom prst="rect">
            <a:avLst/>
          </a:prstGeom>
          <a:noFill/>
          <a:ln/>
        </p:spPr>
        <p:txBody>
          <a:bodyPr wrap="square" lIns="50800" tIns="50800" rIns="50800" bIns="50800" rtlCol="0" anchor="t"/>
          <a:lstStyle/>
          <a:p>
            <a:pPr marL="0" indent="0" algn="l">
              <a:buNone/>
            </a:pPr>
            <a:r>
              <a:rPr lang="en-US" sz="2200" b="1" dirty="0">
                <a:solidFill>
                  <a:srgbClr val="1DE9B6"/>
                </a:solidFill>
                <a:latin typeface="Calibri" pitchFamily="34" charset="0"/>
                <a:ea typeface="Calibri" pitchFamily="34" charset="-122"/>
                <a:cs typeface="Calibri" pitchFamily="34" charset="-120"/>
              </a:rPr>
              <a:t>&amp; Future Work</a:t>
            </a:r>
            <a:endParaRPr lang="en-US" sz="2200" dirty="0"/>
          </a:p>
        </p:txBody>
      </p:sp>
      <p:sp>
        <p:nvSpPr>
          <p:cNvPr id="7" name="Text 4"/>
          <p:cNvSpPr/>
          <p:nvPr/>
        </p:nvSpPr>
        <p:spPr>
          <a:xfrm>
            <a:off x="411480" y="2944368"/>
            <a:ext cx="3337560" cy="1783080"/>
          </a:xfrm>
          <a:prstGeom prst="rect">
            <a:avLst/>
          </a:prstGeom>
          <a:noFill/>
          <a:ln/>
        </p:spPr>
        <p:txBody>
          <a:bodyPr wrap="square" lIns="50800" tIns="50800" rIns="50800" bIns="50800" rtlCol="0" anchor="ctr"/>
          <a:lstStyle/>
          <a:p>
            <a:pPr marL="342900" indent="-342900">
              <a:spcAft>
                <a:spcPts val="800"/>
              </a:spcAft>
              <a:buSzPct val="100000"/>
              <a:buChar char="•"/>
            </a:pPr>
            <a:r>
              <a:rPr lang="en-US" sz="1050" dirty="0">
                <a:solidFill>
                  <a:srgbClr val="D6EAF8"/>
                </a:solidFill>
                <a:latin typeface="Calibri" pitchFamily="34" charset="0"/>
                <a:ea typeface="Calibri" pitchFamily="34" charset="-122"/>
                <a:cs typeface="Calibri" pitchFamily="34" charset="-120"/>
              </a:rPr>
              <a:t>XGBoost achieved the best F1 (0.804) and 88.2% accuracy across all five models</a:t>
            </a:r>
            <a:endParaRPr lang="en-US" sz="1050" dirty="0"/>
          </a:p>
          <a:p>
            <a:pPr marL="342900" indent="-342900">
              <a:spcAft>
                <a:spcPts val="800"/>
              </a:spcAft>
              <a:buSzPct val="100000"/>
              <a:buChar char="•"/>
            </a:pPr>
            <a:r>
              <a:rPr lang="en-US" sz="1050" dirty="0">
                <a:solidFill>
                  <a:srgbClr val="D6EAF8"/>
                </a:solidFill>
                <a:latin typeface="Calibri" pitchFamily="34" charset="0"/>
                <a:ea typeface="Calibri" pitchFamily="34" charset="-122"/>
                <a:cs typeface="Calibri" pitchFamily="34" charset="-120"/>
              </a:rPr>
              <a:t>Approved 2nd-semester units and tuition fee status are the strongest early-warning signals</a:t>
            </a:r>
            <a:endParaRPr lang="en-US" sz="1050" dirty="0"/>
          </a:p>
          <a:p>
            <a:pPr marL="342900" indent="-342900">
              <a:spcAft>
                <a:spcPts val="800"/>
              </a:spcAft>
              <a:buSzPct val="100000"/>
              <a:buChar char="•"/>
            </a:pPr>
            <a:r>
              <a:rPr lang="en-US" sz="1050" dirty="0">
                <a:solidFill>
                  <a:srgbClr val="D6EAF8"/>
                </a:solidFill>
                <a:latin typeface="Calibri" pitchFamily="34" charset="0"/>
                <a:ea typeface="Calibri" pitchFamily="34" charset="-122"/>
                <a:cs typeface="Calibri" pitchFamily="34" charset="-120"/>
              </a:rPr>
              <a:t>Fairness audit across gender, age, debt, and fees shows no demographic amplification</a:t>
            </a:r>
            <a:endParaRPr lang="en-US" sz="1050" dirty="0"/>
          </a:p>
          <a:p>
            <a:pPr marL="342900" indent="-342900">
              <a:spcAft>
                <a:spcPts val="800"/>
              </a:spcAft>
              <a:buSzPct val="100000"/>
              <a:buChar char="•"/>
            </a:pPr>
            <a:r>
              <a:rPr lang="en-US" sz="1050" dirty="0">
                <a:solidFill>
                  <a:srgbClr val="D6EAF8"/>
                </a:solidFill>
                <a:latin typeface="Calibri" pitchFamily="34" charset="0"/>
                <a:ea typeface="Calibri" pitchFamily="34" charset="-122"/>
                <a:cs typeface="Calibri" pitchFamily="34" charset="-120"/>
              </a:rPr>
              <a:t>SHAP explanations produce actionable, human-readable output for academic advisors</a:t>
            </a:r>
            <a:endParaRPr lang="en-US" sz="1050" dirty="0"/>
          </a:p>
        </p:txBody>
      </p:sp>
      <p:sp>
        <p:nvSpPr>
          <p:cNvPr id="10" name="Shape 7"/>
          <p:cNvSpPr/>
          <p:nvPr/>
        </p:nvSpPr>
        <p:spPr>
          <a:xfrm>
            <a:off x="4389120" y="475488"/>
            <a:ext cx="4480560" cy="4343400"/>
          </a:xfrm>
          <a:prstGeom prst="rect">
            <a:avLst/>
          </a:prstGeom>
          <a:solidFill>
            <a:srgbClr val="112233"/>
          </a:solidFill>
          <a:ln w="8890">
            <a:solidFill>
              <a:srgbClr val="0D7C7C"/>
            </a:solidFill>
            <a:prstDash val="solid"/>
          </a:ln>
          <a:effectLst>
            <a:outerShdw blurRad="101600" dist="38100" dir="8100000" algn="bl" rotWithShape="0">
              <a:srgbClr val="000000">
                <a:alpha val="28000"/>
              </a:srgbClr>
            </a:outerShdw>
          </a:effectLst>
        </p:spPr>
      </p:sp>
      <p:sp>
        <p:nvSpPr>
          <p:cNvPr id="11" name="Shape 8"/>
          <p:cNvSpPr/>
          <p:nvPr/>
        </p:nvSpPr>
        <p:spPr>
          <a:xfrm>
            <a:off x="4389120" y="475488"/>
            <a:ext cx="4480560" cy="365760"/>
          </a:xfrm>
          <a:prstGeom prst="rect">
            <a:avLst/>
          </a:prstGeom>
          <a:solidFill>
            <a:srgbClr val="071221"/>
          </a:solidFill>
          <a:ln w="12700">
            <a:solidFill>
              <a:srgbClr val="071221"/>
            </a:solidFill>
            <a:prstDash val="solid"/>
          </a:ln>
        </p:spPr>
      </p:sp>
      <p:sp>
        <p:nvSpPr>
          <p:cNvPr id="12" name="Text 9"/>
          <p:cNvSpPr/>
          <p:nvPr/>
        </p:nvSpPr>
        <p:spPr>
          <a:xfrm>
            <a:off x="4480560" y="475488"/>
            <a:ext cx="4297680" cy="365760"/>
          </a:xfrm>
          <a:prstGeom prst="rect">
            <a:avLst/>
          </a:prstGeom>
          <a:noFill/>
          <a:ln/>
        </p:spPr>
        <p:txBody>
          <a:bodyPr wrap="square" lIns="50800" tIns="50800" rIns="50800" bIns="50800" rtlCol="0" anchor="t"/>
          <a:lstStyle/>
          <a:p>
            <a:pPr marL="0" indent="0" algn="l">
              <a:buNone/>
            </a:pPr>
            <a:r>
              <a:rPr lang="en-US" sz="1400" b="1" dirty="0">
                <a:solidFill>
                  <a:srgbClr val="F4A535"/>
                </a:solidFill>
                <a:latin typeface="Calibri" pitchFamily="34" charset="0"/>
                <a:ea typeface="Calibri" pitchFamily="34" charset="-122"/>
                <a:cs typeface="Calibri" pitchFamily="34" charset="-120"/>
              </a:rPr>
              <a:t>Future Directions</a:t>
            </a:r>
            <a:endParaRPr lang="en-US" sz="1400" dirty="0"/>
          </a:p>
        </p:txBody>
      </p:sp>
      <p:sp>
        <p:nvSpPr>
          <p:cNvPr id="13" name="Shape 10"/>
          <p:cNvSpPr/>
          <p:nvPr/>
        </p:nvSpPr>
        <p:spPr>
          <a:xfrm>
            <a:off x="4526280" y="969264"/>
            <a:ext cx="4206240" cy="822960"/>
          </a:xfrm>
          <a:prstGeom prst="rect">
            <a:avLst/>
          </a:prstGeom>
          <a:solidFill>
            <a:srgbClr val="162840"/>
          </a:solidFill>
          <a:ln w="8890">
            <a:solidFill>
              <a:srgbClr val="1DE9B6"/>
            </a:solidFill>
            <a:prstDash val="solid"/>
          </a:ln>
        </p:spPr>
      </p:sp>
      <p:sp>
        <p:nvSpPr>
          <p:cNvPr id="14" name="Shape 11"/>
          <p:cNvSpPr/>
          <p:nvPr/>
        </p:nvSpPr>
        <p:spPr>
          <a:xfrm>
            <a:off x="4526280" y="969264"/>
            <a:ext cx="64008" cy="822960"/>
          </a:xfrm>
          <a:prstGeom prst="rect">
            <a:avLst/>
          </a:prstGeom>
          <a:solidFill>
            <a:srgbClr val="1DE9B6"/>
          </a:solidFill>
          <a:ln w="12700">
            <a:solidFill>
              <a:srgbClr val="1DE9B6"/>
            </a:solidFill>
            <a:prstDash val="solid"/>
          </a:ln>
        </p:spPr>
      </p:sp>
      <p:sp>
        <p:nvSpPr>
          <p:cNvPr id="15" name="Text 12"/>
          <p:cNvSpPr/>
          <p:nvPr/>
        </p:nvSpPr>
        <p:spPr>
          <a:xfrm>
            <a:off x="4663440" y="1014984"/>
            <a:ext cx="3931920" cy="274320"/>
          </a:xfrm>
          <a:prstGeom prst="rect">
            <a:avLst/>
          </a:prstGeom>
          <a:noFill/>
          <a:ln/>
        </p:spPr>
        <p:txBody>
          <a:bodyPr wrap="square" lIns="50800" tIns="50800" rIns="50800" bIns="50800" rtlCol="0" anchor="t"/>
          <a:lstStyle/>
          <a:p>
            <a:pPr marL="0" indent="0" algn="l">
              <a:buNone/>
            </a:pPr>
            <a:r>
              <a:rPr lang="en-US" sz="1100" b="1" dirty="0">
                <a:solidFill>
                  <a:srgbClr val="1DE9B6"/>
                </a:solidFill>
                <a:latin typeface="Calibri" pitchFamily="34" charset="0"/>
                <a:ea typeface="Calibri" pitchFamily="34" charset="-122"/>
                <a:cs typeface="Calibri" pitchFamily="34" charset="-120"/>
              </a:rPr>
              <a:t>LMS Engagement Data</a:t>
            </a:r>
            <a:endParaRPr lang="en-US" sz="1100" dirty="0"/>
          </a:p>
        </p:txBody>
      </p:sp>
      <p:sp>
        <p:nvSpPr>
          <p:cNvPr id="16" name="Text 13"/>
          <p:cNvSpPr/>
          <p:nvPr/>
        </p:nvSpPr>
        <p:spPr>
          <a:xfrm>
            <a:off x="4663440" y="1316736"/>
            <a:ext cx="3931920" cy="438912"/>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Incorporate assignment submission rates and login frequency for detection in the first 2–3 weeks of term  before academic grades are available.</a:t>
            </a:r>
            <a:endParaRPr lang="en-US" sz="950" dirty="0"/>
          </a:p>
        </p:txBody>
      </p:sp>
      <p:sp>
        <p:nvSpPr>
          <p:cNvPr id="17" name="Shape 14"/>
          <p:cNvSpPr/>
          <p:nvPr/>
        </p:nvSpPr>
        <p:spPr>
          <a:xfrm>
            <a:off x="4526280" y="1901952"/>
            <a:ext cx="4206240" cy="822960"/>
          </a:xfrm>
          <a:prstGeom prst="rect">
            <a:avLst/>
          </a:prstGeom>
          <a:solidFill>
            <a:srgbClr val="162840"/>
          </a:solidFill>
          <a:ln w="8890">
            <a:solidFill>
              <a:srgbClr val="0D7C7C"/>
            </a:solidFill>
            <a:prstDash val="solid"/>
          </a:ln>
        </p:spPr>
      </p:sp>
      <p:sp>
        <p:nvSpPr>
          <p:cNvPr id="18" name="Shape 15"/>
          <p:cNvSpPr/>
          <p:nvPr/>
        </p:nvSpPr>
        <p:spPr>
          <a:xfrm>
            <a:off x="4526280" y="1901952"/>
            <a:ext cx="64008" cy="822960"/>
          </a:xfrm>
          <a:prstGeom prst="rect">
            <a:avLst/>
          </a:prstGeom>
          <a:solidFill>
            <a:srgbClr val="0D7C7C"/>
          </a:solidFill>
          <a:ln w="12700">
            <a:solidFill>
              <a:srgbClr val="0D7C7C"/>
            </a:solidFill>
            <a:prstDash val="solid"/>
          </a:ln>
        </p:spPr>
      </p:sp>
      <p:sp>
        <p:nvSpPr>
          <p:cNvPr id="19" name="Text 16"/>
          <p:cNvSpPr/>
          <p:nvPr/>
        </p:nvSpPr>
        <p:spPr>
          <a:xfrm>
            <a:off x="4663440" y="1947672"/>
            <a:ext cx="3931920" cy="274320"/>
          </a:xfrm>
          <a:prstGeom prst="rect">
            <a:avLst/>
          </a:prstGeom>
          <a:noFill/>
          <a:ln/>
        </p:spPr>
        <p:txBody>
          <a:bodyPr wrap="square" lIns="50800" tIns="50800" rIns="50800" bIns="50800" rtlCol="0" anchor="t"/>
          <a:lstStyle/>
          <a:p>
            <a:pPr marL="0" indent="0" algn="l">
              <a:buNone/>
            </a:pPr>
            <a:r>
              <a:rPr lang="en-US" sz="1100" b="1" dirty="0">
                <a:solidFill>
                  <a:srgbClr val="0D7C7C"/>
                </a:solidFill>
                <a:latin typeface="Calibri" pitchFamily="34" charset="0"/>
                <a:ea typeface="Calibri" pitchFamily="34" charset="-122"/>
                <a:cs typeface="Calibri" pitchFamily="34" charset="-120"/>
              </a:rPr>
              <a:t>Hyperparameter Tuning</a:t>
            </a:r>
            <a:endParaRPr lang="en-US" sz="1100" dirty="0"/>
          </a:p>
        </p:txBody>
      </p:sp>
      <p:sp>
        <p:nvSpPr>
          <p:cNvPr id="20" name="Text 17"/>
          <p:cNvSpPr/>
          <p:nvPr/>
        </p:nvSpPr>
        <p:spPr>
          <a:xfrm>
            <a:off x="4663440" y="2249424"/>
            <a:ext cx="3931920" cy="438912"/>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Bayesian optimisation of XGBoost learning rate, tree depth, and subsampling ratio to close the remaining performance gap.</a:t>
            </a:r>
            <a:endParaRPr lang="en-US" sz="950" dirty="0"/>
          </a:p>
        </p:txBody>
      </p:sp>
      <p:sp>
        <p:nvSpPr>
          <p:cNvPr id="21" name="Shape 18"/>
          <p:cNvSpPr/>
          <p:nvPr/>
        </p:nvSpPr>
        <p:spPr>
          <a:xfrm>
            <a:off x="4526280" y="2834640"/>
            <a:ext cx="4206240" cy="822960"/>
          </a:xfrm>
          <a:prstGeom prst="rect">
            <a:avLst/>
          </a:prstGeom>
          <a:solidFill>
            <a:srgbClr val="162840"/>
          </a:solidFill>
          <a:ln w="8890">
            <a:solidFill>
              <a:srgbClr val="F4A535"/>
            </a:solidFill>
            <a:prstDash val="solid"/>
          </a:ln>
        </p:spPr>
      </p:sp>
      <p:sp>
        <p:nvSpPr>
          <p:cNvPr id="22" name="Shape 19"/>
          <p:cNvSpPr/>
          <p:nvPr/>
        </p:nvSpPr>
        <p:spPr>
          <a:xfrm>
            <a:off x="4526280" y="2834640"/>
            <a:ext cx="64008" cy="822960"/>
          </a:xfrm>
          <a:prstGeom prst="rect">
            <a:avLst/>
          </a:prstGeom>
          <a:solidFill>
            <a:srgbClr val="F4A535"/>
          </a:solidFill>
          <a:ln w="12700">
            <a:solidFill>
              <a:srgbClr val="F4A535"/>
            </a:solidFill>
            <a:prstDash val="solid"/>
          </a:ln>
        </p:spPr>
      </p:sp>
      <p:sp>
        <p:nvSpPr>
          <p:cNvPr id="23" name="Text 20"/>
          <p:cNvSpPr/>
          <p:nvPr/>
        </p:nvSpPr>
        <p:spPr>
          <a:xfrm>
            <a:off x="4663440" y="2880360"/>
            <a:ext cx="3931920" cy="274320"/>
          </a:xfrm>
          <a:prstGeom prst="rect">
            <a:avLst/>
          </a:prstGeom>
          <a:noFill/>
          <a:ln/>
        </p:spPr>
        <p:txBody>
          <a:bodyPr wrap="square" lIns="50800" tIns="50800" rIns="50800" bIns="50800" rtlCol="0" anchor="t"/>
          <a:lstStyle/>
          <a:p>
            <a:pPr marL="0" indent="0" algn="l">
              <a:buNone/>
            </a:pPr>
            <a:r>
              <a:rPr lang="en-US" sz="1100" b="1" dirty="0">
                <a:solidFill>
                  <a:srgbClr val="F4A535"/>
                </a:solidFill>
                <a:latin typeface="Calibri" pitchFamily="34" charset="0"/>
                <a:ea typeface="Calibri" pitchFamily="34" charset="-122"/>
                <a:cs typeface="Calibri" pitchFamily="34" charset="-120"/>
              </a:rPr>
              <a:t>Longitudinal Validation</a:t>
            </a:r>
            <a:endParaRPr lang="en-US" sz="1100" dirty="0"/>
          </a:p>
        </p:txBody>
      </p:sp>
      <p:sp>
        <p:nvSpPr>
          <p:cNvPr id="24" name="Text 21"/>
          <p:cNvSpPr/>
          <p:nvPr/>
        </p:nvSpPr>
        <p:spPr>
          <a:xfrm>
            <a:off x="4663440" y="3182112"/>
            <a:ext cx="3931920" cy="438912"/>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Retrain on subsequent student cohorts to verify that learned feature-dropout relationships remain temporally stable.</a:t>
            </a:r>
            <a:endParaRPr lang="en-US" sz="950" dirty="0"/>
          </a:p>
        </p:txBody>
      </p:sp>
      <p:sp>
        <p:nvSpPr>
          <p:cNvPr id="25" name="Shape 22"/>
          <p:cNvSpPr/>
          <p:nvPr/>
        </p:nvSpPr>
        <p:spPr>
          <a:xfrm>
            <a:off x="4526280" y="3767328"/>
            <a:ext cx="4206240" cy="822960"/>
          </a:xfrm>
          <a:prstGeom prst="rect">
            <a:avLst/>
          </a:prstGeom>
          <a:solidFill>
            <a:srgbClr val="162840"/>
          </a:solidFill>
          <a:ln w="8890">
            <a:solidFill>
              <a:srgbClr val="13A89E"/>
            </a:solidFill>
            <a:prstDash val="solid"/>
          </a:ln>
        </p:spPr>
      </p:sp>
      <p:sp>
        <p:nvSpPr>
          <p:cNvPr id="26" name="Shape 23"/>
          <p:cNvSpPr/>
          <p:nvPr/>
        </p:nvSpPr>
        <p:spPr>
          <a:xfrm>
            <a:off x="4526280" y="3767328"/>
            <a:ext cx="64008" cy="822960"/>
          </a:xfrm>
          <a:prstGeom prst="rect">
            <a:avLst/>
          </a:prstGeom>
          <a:solidFill>
            <a:srgbClr val="13A89E"/>
          </a:solidFill>
          <a:ln w="12700">
            <a:solidFill>
              <a:srgbClr val="13A89E"/>
            </a:solidFill>
            <a:prstDash val="solid"/>
          </a:ln>
        </p:spPr>
      </p:sp>
      <p:sp>
        <p:nvSpPr>
          <p:cNvPr id="27" name="Text 24"/>
          <p:cNvSpPr/>
          <p:nvPr/>
        </p:nvSpPr>
        <p:spPr>
          <a:xfrm>
            <a:off x="4663440" y="3813048"/>
            <a:ext cx="3931920" cy="274320"/>
          </a:xfrm>
          <a:prstGeom prst="rect">
            <a:avLst/>
          </a:prstGeom>
          <a:noFill/>
          <a:ln/>
        </p:spPr>
        <p:txBody>
          <a:bodyPr wrap="square" lIns="50800" tIns="50800" rIns="50800" bIns="50800" rtlCol="0" anchor="t"/>
          <a:lstStyle/>
          <a:p>
            <a:pPr marL="0" indent="0" algn="l">
              <a:buNone/>
            </a:pPr>
            <a:r>
              <a:rPr lang="en-US" sz="1100" b="1" dirty="0">
                <a:solidFill>
                  <a:srgbClr val="13A89E"/>
                </a:solidFill>
                <a:latin typeface="Calibri" pitchFamily="34" charset="0"/>
                <a:ea typeface="Calibri" pitchFamily="34" charset="-122"/>
                <a:cs typeface="Calibri" pitchFamily="34" charset="-120"/>
              </a:rPr>
              <a:t>Fairness Constraints</a:t>
            </a:r>
            <a:endParaRPr lang="en-US" sz="1100" dirty="0"/>
          </a:p>
        </p:txBody>
      </p:sp>
      <p:sp>
        <p:nvSpPr>
          <p:cNvPr id="28" name="Text 25"/>
          <p:cNvSpPr/>
          <p:nvPr/>
        </p:nvSpPr>
        <p:spPr>
          <a:xfrm>
            <a:off x="4663440" y="4114800"/>
            <a:ext cx="3931920" cy="438912"/>
          </a:xfrm>
          <a:prstGeom prst="rect">
            <a:avLst/>
          </a:prstGeom>
          <a:noFill/>
          <a:ln/>
        </p:spPr>
        <p:txBody>
          <a:bodyPr wrap="square" lIns="50800" tIns="50800" rIns="50800" bIns="50800" rtlCol="0" anchor="t"/>
          <a:lstStyle/>
          <a:p>
            <a:pPr marL="0" indent="0" algn="l">
              <a:buNone/>
            </a:pPr>
            <a:r>
              <a:rPr lang="en-US" sz="950" dirty="0">
                <a:solidFill>
                  <a:srgbClr val="D6EAF8"/>
                </a:solidFill>
                <a:latin typeface="Calibri" pitchFamily="34" charset="0"/>
                <a:ea typeface="Calibri" pitchFamily="34" charset="-122"/>
                <a:cs typeface="Calibri" pitchFamily="34" charset="-120"/>
              </a:rPr>
              <a:t>Test in-training fairness objectives that directly penalise demographic disparity during the optimisation step.</a:t>
            </a:r>
            <a:endParaRPr lang="en-US" sz="950" dirty="0"/>
          </a:p>
        </p:txBody>
      </p:sp>
      <p:sp>
        <p:nvSpPr>
          <p:cNvPr id="29" name="Shape 26"/>
          <p:cNvSpPr/>
          <p:nvPr/>
        </p:nvSpPr>
        <p:spPr>
          <a:xfrm>
            <a:off x="4389120" y="4882896"/>
            <a:ext cx="4480560" cy="201168"/>
          </a:xfrm>
          <a:prstGeom prst="rect">
            <a:avLst/>
          </a:prstGeom>
          <a:solidFill>
            <a:srgbClr val="071221"/>
          </a:solidFill>
          <a:ln w="12700">
            <a:solidFill>
              <a:srgbClr val="071221"/>
            </a:solidFill>
            <a:prstDash val="solid"/>
          </a:ln>
        </p:spPr>
      </p:sp>
      <p:sp>
        <p:nvSpPr>
          <p:cNvPr id="30" name="Text 27"/>
          <p:cNvSpPr/>
          <p:nvPr/>
        </p:nvSpPr>
        <p:spPr>
          <a:xfrm>
            <a:off x="4462272" y="4882896"/>
            <a:ext cx="4334256" cy="201168"/>
          </a:xfrm>
          <a:prstGeom prst="rect">
            <a:avLst/>
          </a:prstGeom>
          <a:noFill/>
          <a:ln/>
        </p:spPr>
        <p:txBody>
          <a:bodyPr wrap="square" lIns="50800" tIns="50800" rIns="50800" bIns="50800" rtlCol="0" anchor="ctr"/>
          <a:lstStyle/>
          <a:p>
            <a:pPr marL="0" indent="0" algn="l">
              <a:buNone/>
            </a:pPr>
            <a:r>
              <a:rPr lang="en-US" sz="700" i="1" dirty="0">
                <a:solidFill>
                  <a:srgbClr val="7FA8C0"/>
                </a:solidFill>
                <a:latin typeface="Calibri" pitchFamily="34" charset="0"/>
                <a:ea typeface="Calibri" pitchFamily="34" charset="-122"/>
                <a:cs typeface="Calibri" pitchFamily="34" charset="-120"/>
              </a:rPr>
              <a:t>Realinho et al. (2022). Data, 7(11), 146. | Chen &amp; Guestrin (2016). XGBoost. KDD '16. | Lundberg &amp; Lee (2017). SHAP. NeurIPS.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2076</Words>
  <Application>Microsoft Office PowerPoint</Application>
  <PresentationFormat>On-screen Show (16:9)</PresentationFormat>
  <Paragraphs>273</Paragraphs>
  <Slides>16</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Dropout Risk Prediction Using Machine Learning</dc:title>
  <dc:subject>PptxGenJS Presentation</dc:subject>
  <dc:creator>PptxGenJS</dc:creator>
  <cp:lastModifiedBy>Muhammad Qadeer</cp:lastModifiedBy>
  <cp:revision>31</cp:revision>
  <dcterms:created xsi:type="dcterms:W3CDTF">2026-03-08T19:01:37Z</dcterms:created>
  <dcterms:modified xsi:type="dcterms:W3CDTF">2026-03-10T14:02:19Z</dcterms:modified>
</cp:coreProperties>
</file>