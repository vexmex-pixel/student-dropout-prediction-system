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5C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CD5-433A-A62D-60944361CF68}"/>
              </c:ext>
            </c:extLst>
          </c:dPt>
          <c:dPt>
            <c:idx val="1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CD5-433A-A62D-60944361CF68}"/>
              </c:ext>
            </c:extLst>
          </c:dPt>
          <c:dPt>
            <c:idx val="2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CD5-433A-A62D-60944361CF68}"/>
              </c:ext>
            </c:extLst>
          </c:dPt>
          <c:cat>
            <c:strRef>
              <c:f>Sheet1!$A$2:$A$4</c:f>
              <c:strCache>
                <c:ptCount val="3"/>
                <c:pt idx="0">
                  <c:v>Dropout (32%)</c:v>
                </c:pt>
                <c:pt idx="1">
                  <c:v>Graduate (50%)</c:v>
                </c:pt>
                <c:pt idx="2">
                  <c:v>Enrolled (18%)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1421</c:v>
                </c:pt>
                <c:pt idx="1">
                  <c:v>2209</c:v>
                </c:pt>
                <c:pt idx="2">
                  <c:v>794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CD5-433A-A62D-60944361CF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9F7-47AE-94B8-5C31BE917AD1}"/>
              </c:ext>
            </c:extLst>
          </c:dPt>
          <c:dPt>
            <c:idx val="1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9F7-47AE-94B8-5C31BE917AD1}"/>
              </c:ext>
            </c:extLst>
          </c:dPt>
          <c:dPt>
            <c:idx val="2"/>
            <c:invertIfNegative val="0"/>
            <c:bubble3D val="0"/>
            <c:spPr>
              <a:solidFill>
                <a:srgbClr val="7BA8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9F7-47AE-94B8-5C31BE917AD1}"/>
              </c:ext>
            </c:extLst>
          </c:dPt>
          <c:dPt>
            <c:idx val="3"/>
            <c:invertIfNegative val="0"/>
            <c:bubble3D val="0"/>
            <c:spPr>
              <a:solidFill>
                <a:srgbClr val="A8C0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9F7-47AE-94B8-5C31BE917AD1}"/>
              </c:ext>
            </c:extLst>
          </c:dPt>
          <c:dPt>
            <c:idx val="4"/>
            <c:invertIfNegative val="0"/>
            <c:bubble3D val="0"/>
            <c:spPr>
              <a:solidFill>
                <a:srgbClr val="C8C0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9F7-47AE-94B8-5C31BE917AD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A3A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XGBoost</c:v>
                </c:pt>
                <c:pt idx="1">
                  <c:v>Random Forest</c:v>
                </c:pt>
                <c:pt idx="2">
                  <c:v>Log. Regression</c:v>
                </c:pt>
                <c:pt idx="3">
                  <c:v>SVM</c:v>
                </c:pt>
                <c:pt idx="4">
                  <c:v>Decision Tree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88.2</c:v>
                </c:pt>
                <c:pt idx="1">
                  <c:v>87.9</c:v>
                </c:pt>
                <c:pt idx="2">
                  <c:v>87.3</c:v>
                </c:pt>
                <c:pt idx="3">
                  <c:v>87.1</c:v>
                </c:pt>
                <c:pt idx="4">
                  <c:v>80.5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9F7-47AE-94B8-5C31BE917A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75"/>
        </c:scaling>
        <c:delete val="0"/>
        <c:axPos val="b"/>
        <c:majorGridlines>
          <c:spPr>
            <a:ln w="6350" cap="flat">
              <a:solidFill>
                <a:srgbClr val="E0DD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708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0"/>
            <a:ext cx="411480" cy="514350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77724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0" y="43159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84124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457200" y="233172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57200" y="2834640"/>
            <a:ext cx="47548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99923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r>
              <a:rPr lang="en-US" sz="1300" dirty="0">
                <a:solidFill>
                  <a:srgbClr val="B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Capstone Project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38328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 </a:t>
            </a:r>
            <a:r>
              <a:rPr lang="en-US" sz="1300" dirty="0">
                <a:solidFill>
                  <a:srgbClr val="B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Kenneth Paul Cortez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76732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r>
              <a:rPr lang="en-US" sz="1300" dirty="0">
                <a:solidFill>
                  <a:srgbClr val="B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to Student Success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is a growing challenge facing universities worldwide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9525">
            <a:solidFill>
              <a:srgbClr val="D5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61872"/>
            <a:ext cx="28163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261872"/>
            <a:ext cx="2816352" cy="59436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426464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13716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84048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drop out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graduation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261872"/>
            <a:ext cx="28163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61872"/>
            <a:ext cx="2816352" cy="59436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1426464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6200" y="13716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3328416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leaves without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degree they enrolled for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44768" y="1261872"/>
            <a:ext cx="28163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44768" y="1261872"/>
            <a:ext cx="2816352" cy="594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426464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30568" y="13716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$12k+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6272784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tuition revenue lost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dropout student annually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56032" y="3017520"/>
            <a:ext cx="28163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56032" y="3017520"/>
            <a:ext cx="2816352" cy="59436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20624" y="32186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Success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20624" y="3584448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leave without a degree face long-term financial setbacks, often carrying debt without the qualification that was meant to improve their prospects.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3200400" y="3017520"/>
            <a:ext cx="28163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200400" y="3017520"/>
            <a:ext cx="2816352" cy="5943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364992" y="32186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Reputation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3364992" y="3584448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dropout rates lower graduation statistics, directly affecting university rankings and making it harder to attract quality students and secure future funding.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144768" y="3017520"/>
            <a:ext cx="28163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144768" y="3017520"/>
            <a:ext cx="2816352" cy="594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09360" y="32186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Stability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6309360" y="3584448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dropout represents lost tuition income and undermines the financial planning that universities rely on to sustain programmes, staff, and facilities.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254533"/>
          </a:solidFill>
          <a:ln w="12700">
            <a:solidFill>
              <a:srgbClr val="2545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47472" y="117043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inaction extends far beyond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individual student who leaves.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" y="19019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£50,000+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7472" y="2395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debt load for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drop out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2907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" y="3401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drop per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rise in dropout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39136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years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" y="44074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recover rankings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reputation damage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0116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Consequences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663440" y="804672"/>
            <a:ext cx="4251960" cy="868680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804672"/>
            <a:ext cx="64008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877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Shortfall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dropouts create budget gaps, forcing programme cuts and staffing freezes that affect every remaining student.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828800"/>
            <a:ext cx="4251960" cy="868680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828800"/>
            <a:ext cx="64008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901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Decline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22128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and global rankings weigh graduation rates heavily. A declining rate can take years to reverse.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852928"/>
            <a:ext cx="4251960" cy="868680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852928"/>
            <a:ext cx="64008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Reputational Damage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32369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students research completion rates. A poor reputation spreads quickly through word-of-mouth.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877056"/>
            <a:ext cx="4251960" cy="868680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877056"/>
            <a:ext cx="64008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950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Resources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426110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time, scholarships, and infrastructure investment is lost when students leave before benefiting from the support.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early warning system that identifies students at risk before it is too late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9525">
            <a:solidFill>
              <a:srgbClr val="D5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61872"/>
            <a:ext cx="8686800" cy="804672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for Student Retention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" y="2267712"/>
            <a:ext cx="202996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267712"/>
            <a:ext cx="2029968" cy="59436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395728"/>
            <a:ext cx="658368" cy="6583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38328" y="312724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3547872"/>
            <a:ext cx="1481328" cy="0"/>
          </a:xfrm>
          <a:prstGeom prst="line">
            <a:avLst/>
          </a:prstGeom>
          <a:noFill/>
          <a:ln w="9525">
            <a:solidFill>
              <a:srgbClr val="D5CF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3639312"/>
            <a:ext cx="18470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student academic, enrolment, demographic, and financial data from institutional systems automatically.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404872" y="2267712"/>
            <a:ext cx="202996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04872" y="2267712"/>
            <a:ext cx="2029968" cy="5943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528" y="2395728"/>
            <a:ext cx="658368" cy="6583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14600" y="312724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679192" y="3547872"/>
            <a:ext cx="1481328" cy="0"/>
          </a:xfrm>
          <a:prstGeom prst="line">
            <a:avLst/>
          </a:prstGeom>
          <a:noFill/>
          <a:ln w="9525">
            <a:solidFill>
              <a:srgbClr val="D5CFC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496312" y="3639312"/>
            <a:ext cx="18470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finds hidden patterns across thousands of student records patterns humans cannot spot alone.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81144" y="2267712"/>
            <a:ext cx="202996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81144" y="2267712"/>
            <a:ext cx="2029968" cy="59436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395728"/>
            <a:ext cx="658368" cy="6583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90872" y="312724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855464" y="3547872"/>
            <a:ext cx="1481328" cy="0"/>
          </a:xfrm>
          <a:prstGeom prst="line">
            <a:avLst/>
          </a:prstGeom>
          <a:noFill/>
          <a:ln w="9525">
            <a:solidFill>
              <a:srgbClr val="D5CFC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672584" y="3639312"/>
            <a:ext cx="18470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most likely to drop out are flagged early weeks before the risk becomes a reality.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757416" y="2267712"/>
            <a:ext cx="202996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757416" y="2267712"/>
            <a:ext cx="2029968" cy="594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2395728"/>
            <a:ext cx="658368" cy="6583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67144" y="312724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7031736" y="3547872"/>
            <a:ext cx="1481328" cy="0"/>
          </a:xfrm>
          <a:prstGeom prst="line">
            <a:avLst/>
          </a:prstGeom>
          <a:noFill/>
          <a:ln w="9525">
            <a:solidFill>
              <a:srgbClr val="D5CFC3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848856" y="3639312"/>
            <a:ext cx="18470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receive a prioritised list and focus energy where targeted support will have the greatest impact.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straightforward four-step process no technical knowledge required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8600" y="1261872"/>
            <a:ext cx="2011680" cy="3584448"/>
          </a:xfrm>
          <a:prstGeom prst="rect">
            <a:avLst/>
          </a:prstGeom>
          <a:solidFill>
            <a:srgbClr val="254533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61872"/>
            <a:ext cx="20116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417320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38328" y="1965960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8328" y="2487168"/>
            <a:ext cx="1783080" cy="0"/>
          </a:xfrm>
          <a:prstGeom prst="line">
            <a:avLst/>
          </a:prstGeom>
          <a:noFill/>
          <a:ln w="12700">
            <a:solidFill>
              <a:srgbClr val="2D55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328" y="2578608"/>
            <a:ext cx="180136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grades, enrolment details, family background, and financial status are pulled automatically from university records.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40280" y="2834640"/>
            <a:ext cx="34747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40280" y="279806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404872" y="1261872"/>
            <a:ext cx="2011680" cy="3584448"/>
          </a:xfrm>
          <a:prstGeom prst="rect">
            <a:avLst/>
          </a:prstGeom>
          <a:solidFill>
            <a:srgbClr val="254533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04872" y="1261872"/>
            <a:ext cx="20116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96312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1417320"/>
            <a:ext cx="475488" cy="4754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14600" y="1965960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2514600" y="2487168"/>
            <a:ext cx="1783080" cy="0"/>
          </a:xfrm>
          <a:prstGeom prst="line">
            <a:avLst/>
          </a:prstGeom>
          <a:noFill/>
          <a:ln w="12700">
            <a:solidFill>
              <a:srgbClr val="2D554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514600" y="2578608"/>
            <a:ext cx="180136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analyses thousands of data points to identify student profiles that historically correlate with dropout risk.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416552" y="2834640"/>
            <a:ext cx="34747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416552" y="279806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4581144" y="1261872"/>
            <a:ext cx="2011680" cy="3584448"/>
          </a:xfrm>
          <a:prstGeom prst="rect">
            <a:avLst/>
          </a:prstGeom>
          <a:solidFill>
            <a:srgbClr val="254533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581144" y="1261872"/>
            <a:ext cx="20116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72584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1417320"/>
            <a:ext cx="475488" cy="4754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690872" y="1965960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Generated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4690872" y="2487168"/>
            <a:ext cx="1783080" cy="0"/>
          </a:xfrm>
          <a:prstGeom prst="line">
            <a:avLst/>
          </a:prstGeom>
          <a:noFill/>
          <a:ln w="12700">
            <a:solidFill>
              <a:srgbClr val="2D554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690872" y="2578608"/>
            <a:ext cx="180136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receives a risk assessment. High-risk students are clearly flagged for immediate advisor attention.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592824" y="2834640"/>
            <a:ext cx="34747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592824" y="279806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6757416" y="1261872"/>
            <a:ext cx="2011680" cy="3584448"/>
          </a:xfrm>
          <a:prstGeom prst="rect">
            <a:avLst/>
          </a:prstGeom>
          <a:solidFill>
            <a:srgbClr val="254533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757416" y="1261872"/>
            <a:ext cx="20116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848856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4" y="1417320"/>
            <a:ext cx="475488" cy="47548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867144" y="1965960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Takes Action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6867144" y="2487168"/>
            <a:ext cx="1783080" cy="0"/>
          </a:xfrm>
          <a:prstGeom prst="line">
            <a:avLst/>
          </a:prstGeom>
          <a:noFill/>
          <a:ln w="12700">
            <a:solidFill>
              <a:srgbClr val="2D554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867144" y="2578608"/>
            <a:ext cx="180136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review flagged students and initiate targeted support — counselling, financial guidance, or academic referrals.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1463040" y="4818888"/>
            <a:ext cx="6217920" cy="30175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1463040" y="4818888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Fewer dropouts · Better outcomes · Smarter use of support resources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the Data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patterns reveal about students most likely to drop 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9525">
            <a:solidFill>
              <a:srgbClr val="D5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234440"/>
            <a:ext cx="422452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Outcome Distribution</a:t>
            </a:r>
            <a:endParaRPr lang="en-US" sz="12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56032" y="1664208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201168" y="4681728"/>
            <a:ext cx="4224528" cy="20116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168" y="4681728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 students does not complete their degree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17720" y="1234440"/>
            <a:ext cx="4315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1234440"/>
            <a:ext cx="73152" cy="10972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82312" y="132588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943600" y="13441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Fees Unpaid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782312" y="1874520"/>
            <a:ext cx="3995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overdue tuition fees drop out at a rate of 87% the single strongest predictor of risk.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17720" y="2496312"/>
            <a:ext cx="4315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17720" y="2496312"/>
            <a:ext cx="73152" cy="10972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82312" y="25877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5943600" y="2606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First-Semester Grades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782312" y="3136392"/>
            <a:ext cx="3995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performing below average in their first semester are 2.5× more likely to leave before graduating.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617720" y="3758184"/>
            <a:ext cx="4315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17720" y="3758184"/>
            <a:ext cx="73152" cy="10972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82312" y="384962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5943600" y="38679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at Enrolment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782312" y="4398264"/>
            <a:ext cx="3995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enrolment age is the highest correlated demographic factor with dropout risk across the full dataset.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system was rigorously tested on real student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9525">
            <a:solidFill>
              <a:srgbClr val="D5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234440"/>
            <a:ext cx="495604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3258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 All Models Tested</a:t>
            </a:r>
            <a:endParaRPr lang="en-US" sz="12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56032" y="1691640"/>
          <a:ext cx="48463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349240" y="1234440"/>
            <a:ext cx="35844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49240" y="1234440"/>
            <a:ext cx="3584448" cy="594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04688" y="14173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94944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04688" y="192024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out of 10 students correctly identified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49240" y="2450592"/>
            <a:ext cx="35844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49240" y="2450592"/>
            <a:ext cx="3584448" cy="59436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04688" y="263347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949440" y="2633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04688" y="31363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in genuine risk flags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349240" y="3666744"/>
            <a:ext cx="35844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49240" y="3666744"/>
            <a:ext cx="3584448" cy="5943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04688" y="384962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6949440" y="3849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504688" y="435254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performance across all approaches tested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01168" y="4681728"/>
            <a:ext cx="8741664" cy="347472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the system correctly identifies at-risk students roughly 9 times out of 10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for Your Institution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translates into measurable, real-world institutional gains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743200" cy="1737360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9903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1417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Intervention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56616" y="192024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at-risk students weeks before dropout. Advisors engage early with meaningful support, not last-minute damage control.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36392" y="1234440"/>
            <a:ext cx="2743200" cy="1737360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36392" y="1234440"/>
            <a:ext cx="2743200" cy="6400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39903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1417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Retention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64408" y="192024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5% improvement in retention can generate significant additional tuition revenue and improve institutional sustainability.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44184" y="1234440"/>
            <a:ext cx="2743200" cy="1737360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44184" y="1234440"/>
            <a:ext cx="2743200" cy="64008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399032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02552" y="1417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Resource Use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72200" y="192024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academic support budgets precisely on students who need them most, rather than spreading resources too thinly.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28600" y="3136392"/>
            <a:ext cx="2743200" cy="1737360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28600" y="3136392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30098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86968" y="3319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Graduation Rates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56616" y="382219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completion rates improve national rankings, attracting stronger students and unlocking additional funding streams.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136392" y="3136392"/>
            <a:ext cx="2743200" cy="1737360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136392" y="3136392"/>
            <a:ext cx="2743200" cy="6400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3552" y="3300984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94760" y="3319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264408" y="382219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using data-driven retention tools outperform peers in student satisfaction and graduate employment outcomes.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44184" y="3136392"/>
            <a:ext cx="2743200" cy="1737360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044184" y="3136392"/>
            <a:ext cx="2743200" cy="64008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344" y="3300984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02552" y="3319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172200" y="382219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student retention allows more confident long-term financial planning and reduces exposure to revenue volatility.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Interface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user-friendly tool that puts predictive power directly in advisors' hands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9525">
            <a:solidFill>
              <a:srgbClr val="D5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23444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298448"/>
            <a:ext cx="4069080" cy="3520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45152" y="12344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Dashboard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645152" y="1618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XGBoost Machine Learning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45152" y="201168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2011680"/>
            <a:ext cx="64008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19456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210312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Information Inputs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230368" y="24323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form fields capture academic grades, enrolment details, family background, and economic indicators.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45152" y="2980944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45152" y="2980944"/>
            <a:ext cx="64008" cy="82296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16382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30368" y="3072384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Prediction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230368" y="3401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button submits the data for analysis. Results appear in seconds no waiting or technical steps.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645152" y="3950208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45152" y="3950208"/>
            <a:ext cx="64008" cy="82296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4133088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30368" y="404164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Risk Result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230368" y="4370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displays a clear risk classification showing at a glance whether the student needs immediate attention.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645152" y="4846320"/>
            <a:ext cx="429768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645152" y="4846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in any browser  ·  No installation  ·  Results in seconds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Strategy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rollout designed to minimise disruption and maximise impact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9525">
            <a:solidFill>
              <a:srgbClr val="D5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234440"/>
            <a:ext cx="2057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34440"/>
            <a:ext cx="2057400" cy="594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38988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1691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10896" y="2176272"/>
            <a:ext cx="1828800" cy="0"/>
          </a:xfrm>
          <a:prstGeom prst="line">
            <a:avLst/>
          </a:prstGeom>
          <a:noFill/>
          <a:ln w="12700">
            <a:solidFill>
              <a:srgbClr val="D5CF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0896" y="2606040"/>
            <a:ext cx="18379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prediction system to existing Student Information Systems. Set up automated data feeds covering academic, financial, and enrolment records.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14016" y="1234440"/>
            <a:ext cx="2057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14016" y="1234440"/>
            <a:ext cx="2057400" cy="59436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23744" y="138988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23744" y="1691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Programme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523744" y="2176272"/>
            <a:ext cx="1828800" cy="0"/>
          </a:xfrm>
          <a:prstGeom prst="line">
            <a:avLst/>
          </a:prstGeom>
          <a:noFill/>
          <a:ln w="12700">
            <a:solidFill>
              <a:srgbClr val="D5CF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3744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23744" y="2606040"/>
            <a:ext cx="18379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one faculty or department. Train academic advisors on the dashboard. Validate prediction accuracy and gather feedback from early users.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26864" y="1234440"/>
            <a:ext cx="2057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1234440"/>
            <a:ext cx="2057400" cy="5943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138988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1691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736592" y="2176272"/>
            <a:ext cx="1828800" cy="0"/>
          </a:xfrm>
          <a:prstGeom prst="line">
            <a:avLst/>
          </a:prstGeom>
          <a:noFill/>
          <a:ln w="12700">
            <a:solidFill>
              <a:srgbClr val="D5CF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36592" y="2606040"/>
            <a:ext cx="18379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institution-wide. Establish a prediction cycle aligned to semester milestones. Integrate automated alerts into existing advisor workflows.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39712" y="1234440"/>
            <a:ext cx="2057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39712" y="1234440"/>
            <a:ext cx="2057400" cy="59436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138988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1691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949440" y="2176272"/>
            <a:ext cx="1828800" cy="0"/>
          </a:xfrm>
          <a:prstGeom prst="line">
            <a:avLst/>
          </a:prstGeom>
          <a:noFill/>
          <a:ln w="12700">
            <a:solidFill>
              <a:srgbClr val="D5CFC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49440" y="2606040"/>
            <a:ext cx="18379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model each semester with updated outcomes. Refine intervention strategies based on measured results. Add new data sources as available.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1168" y="4727448"/>
            <a:ext cx="8741664" cy="32004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727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work alongside existing systems with minimal disruption to current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Usage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deployment and student trust are fundamental to this system's 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4224528" cy="1737360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34440"/>
            <a:ext cx="422452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39903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3990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2064" y="194767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 data is processed securely in full compliance with GDPR and applicable data protection regulations. No personal data leaves institutional servers.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234440"/>
            <a:ext cx="4224528" cy="1737360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234440"/>
            <a:ext cx="4224528" cy="64008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399032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04688" y="13990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Bias Prevention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19472" y="194767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tested across demographic groups — gender, age, and nationality — to ensure no student population is unfairly targeted or disadvantaged.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7472" y="3136392"/>
            <a:ext cx="4224528" cy="1737360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7472" y="3136392"/>
            <a:ext cx="4224528" cy="6400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300984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30098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 Decisions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12064" y="3849624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provides a recommendation only. Academic advisors review every flagged case. Final decisions are always made by qualified humans, never automated.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136392"/>
            <a:ext cx="4224528" cy="1737360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3136392"/>
            <a:ext cx="422452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300984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04688" y="330098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919472" y="3849624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explains why a student is flagged — not just whether they are. Advisors see the contributing factors, making conversations more informed.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a decision-support tool it empowers advisors, it does not replace them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Opportunities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the system's reach, accuracy, and institutional impact over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0"/>
          </a:xfrm>
          <a:prstGeom prst="line">
            <a:avLst/>
          </a:prstGeom>
          <a:noFill/>
          <a:ln w="9525">
            <a:solidFill>
              <a:srgbClr val="D5CF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234440"/>
            <a:ext cx="20574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34440"/>
            <a:ext cx="2057400" cy="594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389888"/>
            <a:ext cx="658368" cy="6583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92608" y="212140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Data Sources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84048" y="2633472"/>
            <a:ext cx="1691640" cy="0"/>
          </a:xfrm>
          <a:prstGeom prst="line">
            <a:avLst/>
          </a:prstGeom>
          <a:noFill/>
          <a:ln w="9525">
            <a:solidFill>
              <a:srgbClr val="D5CF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" y="2724912"/>
            <a:ext cx="18745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learning management data — assignment completion rates, login frequency, and forum activity — to detect disengagement even earlier.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14016" y="1234440"/>
            <a:ext cx="20574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14016" y="1234440"/>
            <a:ext cx="2057400" cy="5943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389888"/>
            <a:ext cx="658368" cy="6583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05456" y="212140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596896" y="2633472"/>
            <a:ext cx="1691640" cy="0"/>
          </a:xfrm>
          <a:prstGeom prst="line">
            <a:avLst/>
          </a:prstGeom>
          <a:noFill/>
          <a:ln w="9525">
            <a:solidFill>
              <a:srgbClr val="D5CFC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505456" y="2724912"/>
            <a:ext cx="18745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semester-based snapshots to continuous monitoring, generating updated risk scores week-by-week as student behaviour evolves.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626864" y="1234440"/>
            <a:ext cx="20574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26864" y="1234440"/>
            <a:ext cx="2057400" cy="59436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389888"/>
            <a:ext cx="658368" cy="6583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18304" y="212140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Web Tools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809744" y="2633472"/>
            <a:ext cx="1691640" cy="0"/>
          </a:xfrm>
          <a:prstGeom prst="line">
            <a:avLst/>
          </a:prstGeom>
          <a:noFill/>
          <a:ln w="9525">
            <a:solidFill>
              <a:srgbClr val="D5CFC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18304" y="2724912"/>
            <a:ext cx="18745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richer advisor dashboards, mobile-friendly interfaces, and automated email alerts that push high-risk notifications directly to advisors.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839712" y="1234440"/>
            <a:ext cx="20574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39712" y="1234440"/>
            <a:ext cx="2057400" cy="59436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1389888"/>
            <a:ext cx="658368" cy="6583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31152" y="212140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Interventions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7022592" y="2633472"/>
            <a:ext cx="1691640" cy="0"/>
          </a:xfrm>
          <a:prstGeom prst="line">
            <a:avLst/>
          </a:prstGeom>
          <a:noFill/>
          <a:ln w="9525">
            <a:solidFill>
              <a:srgbClr val="D5CFC3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931152" y="2724912"/>
            <a:ext cx="18745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support recommendations to each student's specific risk factors — financial, academic, or personal — rather than one-size-fits-all responses.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201168" y="4663440"/>
            <a:ext cx="8741664" cy="38404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A fully integrated student success platform that prevents dropout before it becomes inevitable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47872"/>
            <a:ext cx="9144000" cy="1600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4160520" cy="1115568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87552"/>
            <a:ext cx="64008" cy="11155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78992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09928" y="10972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XGBoost model correctly identifies 9 in 10 at-risk students before dropout occurs.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82312" y="987552"/>
            <a:ext cx="4160520" cy="1115568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82312" y="987552"/>
            <a:ext cx="64008" cy="11155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078992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80760" y="10972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Dropout Rate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65192" y="164592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3 students does not graduate — this system is built to change that trajectory.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286000"/>
            <a:ext cx="4160520" cy="1115568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286000"/>
            <a:ext cx="64008" cy="11155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7744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09928" y="23957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Warning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294436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alerts give advisors time to engage students with genuine, targeted support.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82312" y="2286000"/>
            <a:ext cx="4160520" cy="1115568"/>
          </a:xfrm>
          <a:prstGeom prst="rect">
            <a:avLst/>
          </a:prstGeom>
          <a:solidFill>
            <a:srgbClr val="213D2E"/>
          </a:solidFill>
          <a:ln w="12700">
            <a:solidFill>
              <a:srgbClr val="2D55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82312" y="2286000"/>
            <a:ext cx="64008" cy="11155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237744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080760" y="23957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Expertise Needed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65192" y="294436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application is designed for everyday use by any advisor or administrator.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639312"/>
            <a:ext cx="8229600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is no longer a luxury it is a strategic necessity for any institution committed to student success.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4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ML Repository  ·  Model: XGBoost  ·  Deployment: Flask Web Application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965192"/>
            <a:ext cx="82296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1400</Words>
  <Application>Microsoft Office PowerPoint</Application>
  <PresentationFormat>On-screen Show (16:9)</PresentationFormat>
  <Paragraphs>197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Dropout Risk Prediction</dc:title>
  <dc:subject>PptxGenJS Presentation</dc:subject>
  <dc:creator>PptxGenJS</dc:creator>
  <cp:lastModifiedBy>Muhammad Qadeer</cp:lastModifiedBy>
  <cp:revision>12</cp:revision>
  <dcterms:created xsi:type="dcterms:W3CDTF">2026-03-09T18:18:10Z</dcterms:created>
  <dcterms:modified xsi:type="dcterms:W3CDTF">2026-03-10T14:02:01Z</dcterms:modified>
</cp:coreProperties>
</file>